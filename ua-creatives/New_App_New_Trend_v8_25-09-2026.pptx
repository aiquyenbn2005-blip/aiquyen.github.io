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tiktok.com/music/Training-Season-7327973260285544449" TargetMode="External"/><Relationship Id="rId2" Type="http://schemas.openxmlformats.org/officeDocument/2006/relationships/hyperlink" Target="https://www.tiktok.com/tag/trainingseason" TargetMode="External"/><Relationship Id="rId3" Type="http://schemas.openxmlformats.org/officeDocument/2006/relationships/hyperlink" Target="https://www.tiktok.com/discover/dua-lipa-training-season-trend" TargetMode="External"/><Relationship Id="rId4" Type="http://schemas.openxmlformats.org/officeDocument/2006/relationships/hyperlink" Target="https://www.tiktok.com/discover/dua-lipa-training-season-manifest-trend" TargetMode="External"/><Relationship Id="rId5" Type="http://schemas.openxmlformats.org/officeDocument/2006/relationships/hyperlink" Target="https://www.tiktok.com/discover/training-season-dua-lipa-dance-tutorial" TargetMode="External"/><Relationship Id="rId6" Type="http://schemas.openxmlformats.org/officeDocument/2006/relationships/hyperlink" Target="https://www.tiktok.com/@mg8114158/video/7630126299859750158" TargetMode="External"/><Relationship Id="rId7" Type="http://schemas.openxmlformats.org/officeDocument/2006/relationships/hyperlink" Target="https://www.tiktok.com/discover/face-swap-filter" TargetMode="External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video" Target="../media/media-6-1.mp4"/><Relationship Id="rId2" Type="http://schemas.microsoft.com/office/2007/relationships/media" Target="../media/media-6-1.mp4"/><Relationship Id="rId3" Type="http://schemas.openxmlformats.org/officeDocument/2006/relationships/image" Target="../media/image-6-3.png"/><Relationship Id="rId4" Type="http://schemas.openxmlformats.org/officeDocument/2006/relationships/video" Target="../media/media-6-4.mp4"/><Relationship Id="rId5" Type="http://schemas.microsoft.com/office/2007/relationships/media" Target="../media/media-6-4.mp4"/><Relationship Id="rId6" Type="http://schemas.openxmlformats.org/officeDocument/2006/relationships/image" Target="../media/image-6-6.png"/><Relationship Id="rId7" Type="http://schemas.openxmlformats.org/officeDocument/2006/relationships/video" Target="../media/media-6-7.mp4"/><Relationship Id="rId8" Type="http://schemas.microsoft.com/office/2007/relationships/media" Target="../media/media-6-7.mp4"/><Relationship Id="rId9" Type="http://schemas.openxmlformats.org/officeDocument/2006/relationships/image" Target="../media/image-6-9.png"/><Relationship Id="rId10" Type="http://schemas.openxmlformats.org/officeDocument/2006/relationships/video" Target="../media/media-6-10.mp4"/><Relationship Id="rId11" Type="http://schemas.microsoft.com/office/2007/relationships/media" Target="../media/media-6-10.mp4"/><Relationship Id="rId12" Type="http://schemas.openxmlformats.org/officeDocument/2006/relationships/image" Target="../media/image-6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tiktok.com/music/Training-Season-7327973260285544449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0-1.mp4"/><Relationship Id="rId2" Type="http://schemas.microsoft.com/office/2007/relationships/media" Target="../media/media-10-1.mp4"/><Relationship Id="rId3" Type="http://schemas.openxmlformats.org/officeDocument/2006/relationships/image" Target="../media/image-10-3.png"/><Relationship Id="rId4" Type="http://schemas.openxmlformats.org/officeDocument/2006/relationships/video" Target="../media/media-10-4.mp4"/><Relationship Id="rId5" Type="http://schemas.microsoft.com/office/2007/relationships/media" Target="../media/media-10-4.mp4"/><Relationship Id="rId6" Type="http://schemas.openxmlformats.org/officeDocument/2006/relationships/image" Target="../media/image-10-6.png"/><Relationship Id="rId7" Type="http://schemas.openxmlformats.org/officeDocument/2006/relationships/video" Target="../media/media-10-7.mp4"/><Relationship Id="rId8" Type="http://schemas.microsoft.com/office/2007/relationships/media" Target="../media/media-10-7.mp4"/><Relationship Id="rId9" Type="http://schemas.openxmlformats.org/officeDocument/2006/relationships/image" Target="../media/image-10-9.png"/><Relationship Id="rId10" Type="http://schemas.openxmlformats.org/officeDocument/2006/relationships/video" Target="../media/media-10-10.mp4"/><Relationship Id="rId11" Type="http://schemas.microsoft.com/office/2007/relationships/media" Target="../media/media-10-10.mp4"/><Relationship Id="rId12" Type="http://schemas.openxmlformats.org/officeDocument/2006/relationships/image" Target="../media/image-10-12.png"/><Relationship Id="rId13" Type="http://schemas.openxmlformats.org/officeDocument/2006/relationships/video" Target="../media/media-10-13.mp4"/><Relationship Id="rId14" Type="http://schemas.microsoft.com/office/2007/relationships/media" Target="../media/media-10-13.mp4"/><Relationship Id="rId15" Type="http://schemas.openxmlformats.org/officeDocument/2006/relationships/image" Target="../media/image-10-15.png"/><Relationship Id="rId16" Type="http://schemas.openxmlformats.org/officeDocument/2006/relationships/video" Target="../media/media-10-16.mp4"/><Relationship Id="rId17" Type="http://schemas.microsoft.com/office/2007/relationships/media" Target="../media/media-10-16.mp4"/><Relationship Id="rId18" Type="http://schemas.openxmlformats.org/officeDocument/2006/relationships/image" Target="../media/image-10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tiktok.com/music/Training-Season-7327973260285544449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EEEBFF"/>
          </a:solidFill>
          <a:ln w="12700">
            <a:solidFill>
              <a:srgbClr val="EEE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3931920"/>
            <a:ext cx="3840480" cy="3840480"/>
          </a:xfrm>
          <a:prstGeom prst="ellipse">
            <a:avLst/>
          </a:prstGeom>
          <a:solidFill>
            <a:srgbClr val="FDE8EE"/>
          </a:solidFill>
          <a:ln w="12700">
            <a:solidFill>
              <a:srgbClr val="FDE8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97280" y="4937760"/>
            <a:ext cx="3108960" cy="3108960"/>
          </a:xfrm>
          <a:prstGeom prst="ellipse">
            <a:avLst/>
          </a:prstGeom>
          <a:solidFill>
            <a:srgbClr val="E3F5F2"/>
          </a:solidFill>
          <a:ln w="12700">
            <a:solidFill>
              <a:srgbClr val="E3F5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37160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3716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RESEARCH · 24/09/2026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87452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6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New App</a:t>
            </a:r>
            <a:endParaRPr lang="en-US" sz="6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&amp; New Trend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160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Trend nhạc Training Season · Phân tích 2 app mới · Đề xuất lựa chọn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9834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D5D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669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trend nhạc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00400" y="49834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3200400" y="5669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mới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577840" y="49834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5577840" y="5669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video creative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84048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TÓM TẮT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Tóm tắt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Dữ kiện chính của từng phần — chi tiết và nguồn ở các slide sau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3520440" cy="4434840"/>
          </a:xfrm>
          <a:prstGeom prst="roundRect">
            <a:avLst>
              <a:gd name="adj" fmla="val 3117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920240"/>
            <a:ext cx="3520440" cy="685800"/>
          </a:xfrm>
          <a:prstGeom prst="rect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19202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Trend nhạc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2880360"/>
            <a:ext cx="384048" cy="384048"/>
          </a:xfrm>
          <a:prstGeom prst="ellipse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92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281635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"Training Season" – Dua Lipa: trend manifest &amp; nhảy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3749040"/>
            <a:ext cx="384048" cy="384048"/>
          </a:xfrm>
          <a:prstGeom prst="ellipse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92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68503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Format: trước → beat drop → phiên bản mới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22960" y="4617720"/>
            <a:ext cx="384048" cy="384048"/>
          </a:xfrm>
          <a:prstGeom prst="ellipse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617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92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55371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Phù hợp app AI Filter / AI Face Swap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5778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5D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Gợi ý creative biến hình theo nhạc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297680" y="1920240"/>
            <a:ext cx="3520440" cy="4434840"/>
          </a:xfrm>
          <a:prstGeom prst="roundRect">
            <a:avLst>
              <a:gd name="adj" fmla="val 3117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97680" y="1920240"/>
            <a:ext cx="3520440" cy="68580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0" y="19202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Health Tracker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572000" y="2880360"/>
            <a:ext cx="384048" cy="384048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92" dirty="0"/>
          </a:p>
        </p:txBody>
      </p:sp>
      <p:sp>
        <p:nvSpPr>
          <p:cNvPr id="25" name="Text 23"/>
          <p:cNvSpPr txBox="1"/>
          <p:nvPr/>
        </p:nvSpPr>
        <p:spPr>
          <a:xfrm>
            <a:off x="5120640" y="281635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Ghi &amp; theo dõi huyết áp, đường huyết, nhịp tim, bước chân, nước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4572000" y="3749040"/>
            <a:ext cx="384048" cy="384048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7200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92" dirty="0"/>
          </a:p>
        </p:txBody>
      </p:sp>
      <p:sp>
        <p:nvSpPr>
          <p:cNvPr id="28" name="Text 26"/>
          <p:cNvSpPr txBox="1"/>
          <p:nvPr/>
        </p:nvSpPr>
        <p:spPr>
          <a:xfrm>
            <a:off x="5120640" y="368503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 mắt 06/2026, ~8K install/ngày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4572000" y="4617720"/>
            <a:ext cx="384048" cy="384048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72000" y="4617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92" dirty="0"/>
          </a:p>
        </p:txBody>
      </p:sp>
      <p:sp>
        <p:nvSpPr>
          <p:cNvPr id="31" name="Text 29"/>
          <p:cNvSpPr txBox="1"/>
          <p:nvPr/>
        </p:nvSpPr>
        <p:spPr>
          <a:xfrm>
            <a:off x="5120640" y="455371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Kiếm tiền: IAP · ngách ~32K install/ngày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4572000" y="55778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Dùng hằng ngày, ngách nhỏ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8046720" y="1920240"/>
            <a:ext cx="3520440" cy="4434840"/>
          </a:xfrm>
          <a:prstGeom prst="roundRect">
            <a:avLst>
              <a:gd name="adj" fmla="val 3117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46720" y="1920240"/>
            <a:ext cx="3520440" cy="685800"/>
          </a:xfrm>
          <a:prstGeom prst="rect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321040" y="19202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Pregnancy Tracker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8321040" y="2880360"/>
            <a:ext cx="384048" cy="384048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32104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92" dirty="0"/>
          </a:p>
        </p:txBody>
      </p:sp>
      <p:sp>
        <p:nvSpPr>
          <p:cNvPr id="38" name="Text 36"/>
          <p:cNvSpPr txBox="1"/>
          <p:nvPr/>
        </p:nvSpPr>
        <p:spPr>
          <a:xfrm>
            <a:off x="8869680" y="281635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Theo dõi thai kỳ theo tuần, hình bé 2D/3D, kick counter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8321040" y="3749040"/>
            <a:ext cx="384048" cy="384048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32104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92" dirty="0"/>
          </a:p>
        </p:txBody>
      </p:sp>
      <p:sp>
        <p:nvSpPr>
          <p:cNvPr id="41" name="Text 39"/>
          <p:cNvSpPr txBox="1"/>
          <p:nvPr/>
        </p:nvSpPr>
        <p:spPr>
          <a:xfrm>
            <a:off x="8869680" y="368503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 mắt 02/2026, ~16K install/ngày, đang tăng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8321040" y="4617720"/>
            <a:ext cx="384048" cy="384048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321040" y="4617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92" dirty="0"/>
          </a:p>
        </p:txBody>
      </p:sp>
      <p:sp>
        <p:nvSpPr>
          <p:cNvPr id="44" name="Text 42"/>
          <p:cNvSpPr txBox="1"/>
          <p:nvPr/>
        </p:nvSpPr>
        <p:spPr>
          <a:xfrm>
            <a:off x="8869680" y="455371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Kiếm tiền: ads + IAP · ngách ~213K install/ngày</a:t>
            </a:r>
            <a:endParaRPr lang="en-US" sz="1350" dirty="0"/>
          </a:p>
        </p:txBody>
      </p:sp>
      <p:sp>
        <p:nvSpPr>
          <p:cNvPr id="45" name="Text 43"/>
          <p:cNvSpPr txBox="1"/>
          <p:nvPr/>
        </p:nvSpPr>
        <p:spPr>
          <a:xfrm>
            <a:off x="8321040" y="55778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Ngách lớn, cạnh tranh cao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84048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TREND NHẠC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"Training Season" – Dua Lipa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Nhạc nền hot cho video biến hình → hợp nhất với app AI Filter / AI Face Swap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3566160" cy="4526280"/>
          </a:xfrm>
          <a:prstGeom prst="roundRect">
            <a:avLst>
              <a:gd name="adj" fmla="val 3077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103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5D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Trend là gì?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7240" y="2651760"/>
            <a:ext cx="384048" cy="384048"/>
          </a:xfrm>
          <a:prstGeom prst="ellipse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92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587752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Bài hát sống lại nhờ trend "manifest" và trend nhảy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3840480"/>
            <a:ext cx="384048" cy="384048"/>
          </a:xfrm>
          <a:prstGeom prst="ellipse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92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776472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Người dùng quay "trước" bình thường → beat drop → phiên bản "xịn" hơn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7240" y="5029200"/>
            <a:ext cx="384048" cy="384048"/>
          </a:xfrm>
          <a:prstGeom prst="ellipse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5029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92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965192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Có sẵn vũ đạo dễ bắt chước, nhiều video hướng dẫn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43400" y="1920240"/>
            <a:ext cx="3977640" cy="4526280"/>
          </a:xfrm>
          <a:prstGeom prst="roundRect">
            <a:avLst>
              <a:gd name="adj" fmla="val 2759"/>
            </a:avLst>
          </a:prstGeom>
          <a:solidFill>
            <a:srgbClr val="EEEBFF"/>
          </a:solidFill>
          <a:ln w="6350">
            <a:solidFill>
              <a:srgbClr val="EEEB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0" y="2103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5D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Ứng dụng: AI Filter / Face Swap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72000" y="2651760"/>
            <a:ext cx="352044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54880" y="2724912"/>
            <a:ext cx="3200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Face swap vào vũ đạo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Upload 1 selfie → mặt mình trên video nhảy Training Season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0" y="3840480"/>
            <a:ext cx="352044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54880" y="3913632"/>
            <a:ext cx="3200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Glow-up theo beat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Ảnh thường → beat drop → AI filter "main character"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0" y="5029200"/>
            <a:ext cx="352044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54880" y="5102352"/>
            <a:ext cx="3200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Swap nhân vật 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Đổi sang nhân vật AI phong cách idol — không dùng mặt người nổi tiếng thật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549640" y="1920240"/>
            <a:ext cx="3090672" cy="4526280"/>
          </a:xfrm>
          <a:prstGeom prst="roundRect">
            <a:avLst>
              <a:gd name="adj" fmla="val 3550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778240" y="2103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5D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Link TikTok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778240" y="2606040"/>
            <a:ext cx="2633472" cy="402336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778240" y="2606040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u="sng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1" invalidUrl="" action="" tgtFrame="" tooltip="https://www.tiktok.com/music/Training-Season-7327973260285544449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Nhạc gốc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778240" y="3136392"/>
            <a:ext cx="263347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778240" y="3136392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u="sng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2" invalidUrl="" action="" tgtFrame="" tooltip="https://www.tiktok.com/tag/trainingseaso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#trainingseason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778240" y="3666744"/>
            <a:ext cx="263347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778240" y="3666744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u="sng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3" invalidUrl="" action="" tgtFrame="" tooltip="https://www.tiktok.com/discover/dua-lipa-training-season-trend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Trend Training Season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778240" y="4197096"/>
            <a:ext cx="263347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778240" y="4197096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u="sng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4" invalidUrl="" action="" tgtFrame="" tooltip="https://www.tiktok.com/discover/dua-lipa-training-season-manifest-trend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Trend manifest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778240" y="4727448"/>
            <a:ext cx="263347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778240" y="4727448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u="sng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5" invalidUrl="" action="" tgtFrame="" tooltip="https://www.tiktok.com/discover/training-season-dua-lipa-dance-tutoria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Hướng dẫn nhảy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8778240" y="5257800"/>
            <a:ext cx="263347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778240" y="5257800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u="sng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6" invalidUrl="" action="" tgtFrame="" tooltip="https://www.tiktok.com/@mg8114158/video/7630126299859750158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Mẫu: face swap dance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8778240" y="5788152"/>
            <a:ext cx="263347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778240" y="5788152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u="sng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7" invalidUrl="" action="" tgtFrame="" tooltip="https://www.tiktok.com/discover/face-swap-filte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Face swap filter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84048"/>
            <a:ext cx="2450592" cy="292608"/>
          </a:xfrm>
          <a:prstGeom prst="roundRect">
            <a:avLst>
              <a:gd name="adj" fmla="val 50000"/>
            </a:avLst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1 · HEALTH &amp; FITNESS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Health Tracker: BP &amp; Blood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ghi nhận &amp; theo dõi chỉ số sức khỏe hằng ngày, ra mắt tháng 6/2026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01368"/>
            <a:ext cx="6638544" cy="3392424"/>
          </a:xfrm>
          <a:prstGeom prst="roundRect">
            <a:avLst>
              <a:gd name="adj" fmla="val 21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8" name="Image 0" descr="/tmp/claude-0/-home-user-Aiquyen-github-io/04815c5d-b8ea-5176-a2d9-19e6c7f56abf/scratchpad/v3/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874520"/>
            <a:ext cx="6492240" cy="32461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406640" y="1801368"/>
            <a:ext cx="4233672" cy="1417320"/>
          </a:xfrm>
          <a:prstGeom prst="roundRect">
            <a:avLst>
              <a:gd name="adj" fmla="val 7742"/>
            </a:avLst>
          </a:prstGeom>
          <a:solidFill>
            <a:srgbClr val="E3F5F2"/>
          </a:solidFill>
          <a:ln w="6350">
            <a:solidFill>
              <a:srgbClr val="E3F5F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589520" y="1856232"/>
            <a:ext cx="388620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Mô tả trên Google Play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"Track heart rate, steps, water &amp; log vitals. Your daily wellness companion."
</a:t>
            </a:r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Theo dõi nhịp tim, bước chân, nước uống và ghi các chỉ số sức khỏe.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406640" y="3310128"/>
            <a:ext cx="4233672" cy="1883664"/>
          </a:xfrm>
          <a:prstGeom prst="roundRect">
            <a:avLst>
              <a:gd name="adj" fmla="val 5825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589520" y="3383280"/>
            <a:ext cx="3886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Thông tin cơ bản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Nhà phát triển: </a:t>
            </a:r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Superstring Tools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Danh mục: </a:t>
            </a:r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Health &amp; Fitness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 mắt / cập nhật: </a:t>
            </a:r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18/06/2026 · 17/09/2026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Đánh giá: </a:t>
            </a:r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4.3★ · 1K lượt · 35 review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Kiếm tiền: </a:t>
            </a:r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Có IAP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48640" y="5349240"/>
            <a:ext cx="3611880" cy="1207008"/>
          </a:xfrm>
          <a:prstGeom prst="roundRect">
            <a:avLst>
              <a:gd name="adj" fmla="val 9091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5440680"/>
            <a:ext cx="32461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Tính năng (theo mô tả store)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Ghi huyết áp, đường huyết (nhập tay)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Ước tính nhịp tim bằng camera + flash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Bước chân, mục tiêu nước uống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Dashboard xu hướng, bài viết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288536" y="5349240"/>
            <a:ext cx="3611880" cy="1207008"/>
          </a:xfrm>
          <a:prstGeom prst="roundRect">
            <a:avLst>
              <a:gd name="adj" fmla="val 9091"/>
            </a:avLst>
          </a:prstGeom>
          <a:solidFill>
            <a:srgbClr val="EEF8F1"/>
          </a:solidFill>
          <a:ln w="6350">
            <a:solidFill>
              <a:srgbClr val="EEF8F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471416" y="5440680"/>
            <a:ext cx="32461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580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Điểm mạnh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Gom nhiều chỉ số trong 1 app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Có nhãn ngữ cảnh cho đường huyết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Ghi rõ không phải thiết bị y tế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Install tăng nhanh sau ra mắt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028432" y="5349240"/>
            <a:ext cx="3611880" cy="1207008"/>
          </a:xfrm>
          <a:prstGeom prst="roundRect">
            <a:avLst>
              <a:gd name="adj" fmla="val 9091"/>
            </a:avLst>
          </a:prstGeom>
          <a:solidFill>
            <a:srgbClr val="FEF6E7"/>
          </a:solidFill>
          <a:ln w="6350">
            <a:solidFill>
              <a:srgbClr val="FEF6E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11312" y="5440680"/>
            <a:ext cx="32461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4530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Hạn chế / chưa rõ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Huyết áp / đường huyết cần máy đo riêng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Nhịp tim qua camera chỉ để tham khảo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Ít review → khó đánh giá trải nghiệm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mới, chưa rõ giữ chân dài hạn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601968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Nguồn: Google Play (mô tả app) · AppstoreSpy (crawl 24/09/2026)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84048"/>
            <a:ext cx="2450592" cy="292608"/>
          </a:xfrm>
          <a:prstGeom prst="roundRect">
            <a:avLst>
              <a:gd name="adj" fmla="val 50000"/>
            </a:avLst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1 · HEALTH &amp; FITNESS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Thị trường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Ngách nhỏ nhưng app này đang chiếm phần lớn install mới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01368"/>
            <a:ext cx="6638544" cy="3024553"/>
          </a:xfrm>
          <a:prstGeom prst="roundRect">
            <a:avLst>
              <a:gd name="adj" fmla="val 24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8" name="Image 0" descr="/tmp/claude-0/-home-user-Aiquyen-github-io/04815c5d-b8ea-5176-a2d9-19e6c7f56abf/scratchpad/v3/9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874520"/>
            <a:ext cx="6492240" cy="2878249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406640" y="1801368"/>
            <a:ext cx="4233672" cy="1600200"/>
          </a:xfrm>
          <a:prstGeom prst="roundRect">
            <a:avLst>
              <a:gd name="adj" fmla="val 6857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589520" y="1856232"/>
            <a:ext cx="388620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Dữ kiện ngách (AppstoreSpy)</a:t>
            </a:r>
            <a:endParaRPr lang="en-US" sz="105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190 app đang live, 76 app đã bị gỡ</a:t>
            </a:r>
            <a:endParaRPr lang="en-US" sz="105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~32K install/ngày, ~1M install/tháng</a:t>
            </a:r>
            <a:endParaRPr lang="en-US" sz="105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Doanh thu ước tính ~$60K/tháng cả ngách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406640" y="3493008"/>
            <a:ext cx="4233672" cy="1645920"/>
          </a:xfrm>
          <a:prstGeom prst="roundRect">
            <a:avLst>
              <a:gd name="adj" fmla="val 6667"/>
            </a:avLst>
          </a:prstGeom>
          <a:solidFill>
            <a:srgbClr val="EEF8F1"/>
          </a:solidFill>
          <a:ln w="6350">
            <a:solidFill>
              <a:srgbClr val="EEF8F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589520" y="3547872"/>
            <a:ext cx="388620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1580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Cơ hội</a:t>
            </a:r>
            <a:endParaRPr lang="en-US" sz="105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Người dùng cần báo cáo đưa bác sĩ</a:t>
            </a:r>
            <a:endParaRPr lang="en-US" sz="105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Chế độ gia đình: theo dõi bố mẹ từ xa</a:t>
            </a:r>
            <a:endParaRPr lang="en-US" sz="105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Giao diện chữ lớn cho người lớn tuổi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48640" y="5230368"/>
            <a:ext cx="3611880" cy="1325880"/>
          </a:xfrm>
          <a:prstGeom prst="roundRect">
            <a:avLst>
              <a:gd name="adj" fmla="val 8276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5321808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Diễn biến install của app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~8K install/ngày ≈ 25% cả ngách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đỉnh ~27K và ~25K/ngày (cuối T8, 13/9)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Cuối T9 về mức ~10K/ngày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288536" y="5230368"/>
            <a:ext cx="3611880" cy="1325880"/>
          </a:xfrm>
          <a:prstGeom prst="roundRect">
            <a:avLst>
              <a:gd name="adj" fmla="val 8276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471416" y="5321808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Đối thủ tiêu biểu trong ngách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Disha: AI Health Coach — 5M+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Simple · AI Weight Loss — 5M+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Vera Health: AI for Clinicians — 100K+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028432" y="5230368"/>
            <a:ext cx="3611880" cy="1325880"/>
          </a:xfrm>
          <a:prstGeom prst="roundRect">
            <a:avLst>
              <a:gd name="adj" fmla="val 8276"/>
            </a:avLst>
          </a:prstGeom>
          <a:solidFill>
            <a:srgbClr val="FEF6E7"/>
          </a:solidFill>
          <a:ln w="6350">
            <a:solidFill>
              <a:srgbClr val="FEF6E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11312" y="5321808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4530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Thách thức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Tỉ lệ app bị gỡ cao (76/266)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Chính sách chặt với claim y khoa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Doanh thu cả ngách còn nhỏ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601968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Nguồn: AppstoreSpy · Google Play · dữ liệu crawl 24/09/2026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84048"/>
            <a:ext cx="2450592" cy="292608"/>
          </a:xfrm>
          <a:prstGeom prst="roundRect">
            <a:avLst>
              <a:gd name="adj" fmla="val 50000"/>
            </a:avLst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1 · HEALTH &amp; FITNESS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Quảng cáo đang chạy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video thu thập được · bấm vào video để xem trực tiếp trong slide</a:t>
            </a:r>
            <a:endParaRPr lang="en-US" sz="140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798168" y="1783080"/>
            <a:ext cx="1874520" cy="3332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798168" y="5188712"/>
            <a:ext cx="1874520" cy="274320"/>
          </a:xfrm>
          <a:prstGeom prst="roundRect">
            <a:avLst>
              <a:gd name="adj" fmla="val 50000"/>
            </a:avLst>
          </a:prstGeom>
          <a:solidFill>
            <a:srgbClr val="E3F5F2"/>
          </a:solidFill>
          <a:ln w="12700">
            <a:solidFill>
              <a:srgbClr val="E3F5F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798168" y="518871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Phim ngắn AI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752448" y="550875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Bảo vệ trường &amp; bé gái bị hạ đường huyết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1752448" y="593852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30s · Tây Ban Nha</a:t>
            </a:r>
            <a:endParaRPr lang="en-US" sz="850" dirty="0"/>
          </a:p>
        </p:txBody>
      </p:sp>
      <p:pic>
        <p:nvPicPr>
          <p:cNvPr id="6" name="Media 1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038448" y="1783080"/>
            <a:ext cx="1874520" cy="33324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038448" y="5188712"/>
            <a:ext cx="1874520" cy="274320"/>
          </a:xfrm>
          <a:prstGeom prst="roundRect">
            <a:avLst>
              <a:gd name="adj" fmla="val 50000"/>
            </a:avLst>
          </a:prstGeom>
          <a:solidFill>
            <a:srgbClr val="E3F5F2"/>
          </a:solidFill>
          <a:ln w="12700">
            <a:solidFill>
              <a:srgbClr val="E3F5F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038448" y="518871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Phim ngắn AI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3992728" y="550875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Cảnh sát chặn xe, tài xế hạ đường huyết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3992728" y="593852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30s · Anh + TBN</a:t>
            </a:r>
            <a:endParaRPr lang="en-US" sz="850" dirty="0"/>
          </a:p>
        </p:txBody>
      </p:sp>
      <p:pic>
        <p:nvPicPr>
          <p:cNvPr id="9" name="Media 2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6278728" y="1783080"/>
            <a:ext cx="1874520" cy="333248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6278728" y="5188712"/>
            <a:ext cx="1874520" cy="274320"/>
          </a:xfrm>
          <a:prstGeom prst="roundRect">
            <a:avLst>
              <a:gd name="adj" fmla="val 50000"/>
            </a:avLst>
          </a:prstGeom>
          <a:solidFill>
            <a:srgbClr val="E3F5F2"/>
          </a:solidFill>
          <a:ln w="12700">
            <a:solidFill>
              <a:srgbClr val="E3F5F2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6278728" y="518871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Chuyên gia chia sẻ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6233008" y="550875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"Cơm, bánh mì, pizza đều là đường"</a:t>
            </a:r>
            <a:endParaRPr lang="en-US" sz="950" dirty="0"/>
          </a:p>
        </p:txBody>
      </p:sp>
      <p:sp>
        <p:nvSpPr>
          <p:cNvPr id="21" name="Text 16"/>
          <p:cNvSpPr txBox="1"/>
          <p:nvPr/>
        </p:nvSpPr>
        <p:spPr>
          <a:xfrm>
            <a:off x="6233008" y="593852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32s · Tiếng Anh</a:t>
            </a:r>
            <a:endParaRPr lang="en-US" sz="850" dirty="0"/>
          </a:p>
        </p:txBody>
      </p:sp>
      <p:pic>
        <p:nvPicPr>
          <p:cNvPr id="12" name="Media 3">
            <a:hlinkClick r:id="" action="ppaction://media"/>
          </p:cNvPr>
          <p:cNvPicPr>
            <a:picLocks noChangeAspect="1"/>
          </p:cNvPicPr>
          <p:nvPr>
            <a:vide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519008" y="1783080"/>
            <a:ext cx="1874520" cy="333248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8519008" y="5188712"/>
            <a:ext cx="1874520" cy="274320"/>
          </a:xfrm>
          <a:prstGeom prst="roundRect">
            <a:avLst>
              <a:gd name="adj" fmla="val 50000"/>
            </a:avLst>
          </a:prstGeom>
          <a:solidFill>
            <a:srgbClr val="E3F5F2"/>
          </a:solidFill>
          <a:ln w="12700">
            <a:solidFill>
              <a:srgbClr val="E3F5F2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8519008" y="518871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UGC kể chuyện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8473288" y="550875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Người lớn tuổi kể chuyện sức khỏe</a:t>
            </a:r>
            <a:endParaRPr lang="en-US" sz="950" dirty="0"/>
          </a:p>
        </p:txBody>
      </p:sp>
      <p:sp>
        <p:nvSpPr>
          <p:cNvPr id="26" name="Text 20"/>
          <p:cNvSpPr txBox="1"/>
          <p:nvPr/>
        </p:nvSpPr>
        <p:spPr>
          <a:xfrm>
            <a:off x="8473288" y="593852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47s · Tiếng Anh</a:t>
            </a:r>
            <a:endParaRPr lang="en-US" sz="850" dirty="0"/>
          </a:p>
        </p:txBody>
      </p:sp>
      <p:sp>
        <p:nvSpPr>
          <p:cNvPr id="27" name="Shape 21"/>
          <p:cNvSpPr/>
          <p:nvPr/>
        </p:nvSpPr>
        <p:spPr>
          <a:xfrm>
            <a:off x="548640" y="6144768"/>
            <a:ext cx="11091672" cy="438912"/>
          </a:xfrm>
          <a:prstGeom prst="roundRect">
            <a:avLst>
              <a:gd name="adj" fmla="val 25000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731520" y="6144768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Quan sát: </a:t>
            </a:r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Cả 4 video dùng quét mặt để hiện chỉ số; 3/4 là tiếng Anh/Tây Ban Nha. Tên app ở cuối video khác nhau (VitalScan, Calmia, Heartwell, Life Care) — cần xác minh nguồn.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84048"/>
            <a:ext cx="2450592" cy="292608"/>
          </a:xfrm>
          <a:prstGeom prst="roundRect">
            <a:avLst>
              <a:gd name="adj" fmla="val 50000"/>
            </a:avLst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1 · HEALTH &amp; FITNESS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Nhận định &amp; đề xuất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Phần dưới là nhận định của team, dựa trên dữ kiện ở các slide trước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1091672" cy="731520"/>
          </a:xfrm>
          <a:prstGeom prst="roundRect">
            <a:avLst>
              <a:gd name="adj" fmla="val 15000"/>
            </a:avLst>
          </a:prstGeom>
          <a:solidFill>
            <a:srgbClr val="E3F5F2"/>
          </a:solidFill>
          <a:ln w="6350">
            <a:solidFill>
              <a:srgbClr val="E3F5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8288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Nếu làm app tương tự, hướng định vị: </a:t>
            </a:r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sổ tay sức khỏe gia đình — ghi lại, theo dõi xu hướng, chia sẻ với người thân.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3566160" cy="3749040"/>
          </a:xfrm>
          <a:prstGeom prst="roundRect">
            <a:avLst>
              <a:gd name="adj" fmla="val 3077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2834640"/>
            <a:ext cx="32004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Tính năng MVP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Ghi huyết áp, đường huyết, nhịp tim + nhãn ngữ cảnh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Dashboard tuần / tháng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Bước chân &amp; nước uống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Nhắc nhở hằng ngày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Chế độ chữ lớn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15968" y="2743200"/>
            <a:ext cx="3566160" cy="3749040"/>
          </a:xfrm>
          <a:prstGeom prst="roundRect">
            <a:avLst>
              <a:gd name="adj" fmla="val 3077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17136" y="2834640"/>
            <a:ext cx="32004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Điểm khác biệt có thể tạo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Chia sẻ với người thân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Xuất báo cáo PDF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Tóm tắt tuần bằng AI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Truyền thông rõ: app để ghi lại &amp; theo dõi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83296" y="2743200"/>
            <a:ext cx="3557016" cy="3749040"/>
          </a:xfrm>
          <a:prstGeom prst="roundRect">
            <a:avLst>
              <a:gd name="adj" fmla="val 3085"/>
            </a:avLst>
          </a:prstGeom>
          <a:solidFill>
            <a:srgbClr val="E3F5F2"/>
          </a:solidFill>
          <a:ln w="6350">
            <a:solidFill>
              <a:srgbClr val="E3F5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84464" y="2834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Hướng creative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284464" y="324612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Glow-up sức khỏe theo nhạc</a:t>
            </a:r>
            <a:endParaRPr lang="en-US" sz="1050" dirty="0"/>
          </a:p>
          <a:p>
            <a:pPr indent="0" marL="0">
              <a:buNone/>
            </a:pPr>
            <a:r>
              <a:rPr lang="en-US" sz="1050" u="sng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1" invalidUrl="" action="" tgtFrame="" tooltip="https://www.tiktok.com/music/Training-Season-7327973260285544449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Trend Training Season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284464" y="402336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Phim ngắn gia đình: con cài app cho bố mẹ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Dựa trên format phim ngắn đang chạy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8284464" y="480060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Chuyên gia chia sẻ mẹo ăn uống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Talking-head ngắn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284464" y="557784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Demo 3 bước: mở app – ghi – xem xu hướng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Screen recording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84048"/>
            <a:ext cx="1842516" cy="292608"/>
          </a:xfrm>
          <a:prstGeom prst="roundRect">
            <a:avLst>
              <a:gd name="adj" fmla="val 50000"/>
            </a:avLst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18425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2 · PARENTING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Pregnancy Tracker: Baby Growth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theo dõi thai kỳ theo tuần (bản của Insumos XP), ra mắt tháng 2/2026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01368"/>
            <a:ext cx="6638544" cy="3392424"/>
          </a:xfrm>
          <a:prstGeom prst="roundRect">
            <a:avLst>
              <a:gd name="adj" fmla="val 21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8" name="Image 0" descr="/tmp/claude-0/-home-user-Aiquyen-github-io/04815c5d-b8ea-5176-a2d9-19e6c7f56abf/scratchpad/v3/8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874520"/>
            <a:ext cx="6492240" cy="32461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406640" y="1801368"/>
            <a:ext cx="4233672" cy="1417320"/>
          </a:xfrm>
          <a:prstGeom prst="roundRect">
            <a:avLst>
              <a:gd name="adj" fmla="val 7742"/>
            </a:avLst>
          </a:prstGeom>
          <a:solidFill>
            <a:srgbClr val="FDE8EE"/>
          </a:solidFill>
          <a:ln w="6350">
            <a:solidFill>
              <a:srgbClr val="FDE8E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589520" y="1856232"/>
            <a:ext cx="388620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Mô tả trên Google Play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"Pregnancy Tracker &amp; Kick Counter helps you track your baby's daily growth easily."
</a:t>
            </a:r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Theo dõi thai kỳ và đếm cử động thai, xem bé phát triển mỗi ngày.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406640" y="3310128"/>
            <a:ext cx="4233672" cy="1883664"/>
          </a:xfrm>
          <a:prstGeom prst="roundRect">
            <a:avLst>
              <a:gd name="adj" fmla="val 5825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589520" y="3383280"/>
            <a:ext cx="3886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Thông tin cơ bản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Nhà phát triển: </a:t>
            </a:r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Insumos XP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Danh mục: </a:t>
            </a:r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Parenting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 mắt / cập nhật: </a:t>
            </a:r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13/02/2026 · 22/07/2026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Trạng thái: </a:t>
            </a:r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Early access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Kiếm tiền: </a:t>
            </a:r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Có quảng cáo + IAP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48640" y="5349240"/>
            <a:ext cx="3611880" cy="1207008"/>
          </a:xfrm>
          <a:prstGeom prst="roundRect">
            <a:avLst>
              <a:gd name="adj" fmla="val 9091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5440680"/>
            <a:ext cx="32461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Tính năng (theo mô tả store)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Theo dõi thai kỳ theo tuần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Hình thai nhi 2D / 3D mỗi tuần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Đếm cử động thai (kick counter)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Checklist đồ sơ sinh, gợi ý tên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288536" y="5349240"/>
            <a:ext cx="3611880" cy="1207008"/>
          </a:xfrm>
          <a:prstGeom prst="roundRect">
            <a:avLst>
              <a:gd name="adj" fmla="val 9091"/>
            </a:avLst>
          </a:prstGeom>
          <a:solidFill>
            <a:srgbClr val="EEF8F1"/>
          </a:solidFill>
          <a:ln w="6350">
            <a:solidFill>
              <a:srgbClr val="EEF8F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471416" y="5440680"/>
            <a:ext cx="32461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580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Điểm mạnh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Đủ tính năng cốt lõi của 1 app thai kỳ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Nội dung theo tuần → lý do quay lại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Install tăng mạnh trong tháng 9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Kiếm tiền từ 2 nguồn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028432" y="5349240"/>
            <a:ext cx="3611880" cy="1207008"/>
          </a:xfrm>
          <a:prstGeom prst="roundRect">
            <a:avLst>
              <a:gd name="adj" fmla="val 9091"/>
            </a:avLst>
          </a:prstGeom>
          <a:solidFill>
            <a:srgbClr val="FEF6E7"/>
          </a:solidFill>
          <a:ln w="6350">
            <a:solidFill>
              <a:srgbClr val="FEF6E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11312" y="5440680"/>
            <a:ext cx="32461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4530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Hạn chế / chưa rõ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Tính năng giống nhiều đối thủ lớn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Vẫn ở Early access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Mô tả chưa nêu đếm cơn gò, cân nặng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Không cập nhật từ 22/07/2026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601968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Nguồn: Google Play (mô tả app) · AppstoreSpy (crawl 24/09/2026)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84048"/>
            <a:ext cx="1842516" cy="292608"/>
          </a:xfrm>
          <a:prstGeom prst="roundRect">
            <a:avLst>
              <a:gd name="adj" fmla="val 50000"/>
            </a:avLst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18425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2 · PARENTING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Thị trường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Ngách lớn, nhiều người chơi — cả app lâu năm và app mới 2026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01368"/>
            <a:ext cx="6638544" cy="3136151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8" name="Image 0" descr="/tmp/claude-0/-home-user-Aiquyen-github-io/04815c5d-b8ea-5176-a2d9-19e6c7f56abf/scratchpad/v3/7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874520"/>
            <a:ext cx="6492240" cy="2989847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406640" y="1801368"/>
            <a:ext cx="4233672" cy="1600200"/>
          </a:xfrm>
          <a:prstGeom prst="roundRect">
            <a:avLst>
              <a:gd name="adj" fmla="val 6857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589520" y="1856232"/>
            <a:ext cx="388620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Dữ kiện ngách (AppstoreSpy)</a:t>
            </a:r>
            <a:endParaRPr lang="en-US" sz="105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206 app đang live, 237 app đã bị gỡ</a:t>
            </a:r>
            <a:endParaRPr lang="en-US" sz="105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~213K install/ngày, ~4M install/tháng</a:t>
            </a:r>
            <a:endParaRPr lang="en-US" sz="105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Doanh thu ước tính ~$40K/tháng cả ngách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406640" y="3493008"/>
            <a:ext cx="4233672" cy="1645920"/>
          </a:xfrm>
          <a:prstGeom prst="roundRect">
            <a:avLst>
              <a:gd name="adj" fmla="val 6667"/>
            </a:avLst>
          </a:prstGeom>
          <a:solidFill>
            <a:srgbClr val="EEF8F1"/>
          </a:solidFill>
          <a:ln w="6350">
            <a:solidFill>
              <a:srgbClr val="EEF8F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589520" y="3547872"/>
            <a:ext cx="388620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1580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Cơ hội</a:t>
            </a:r>
            <a:endParaRPr lang="en-US" sz="105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Nhu cầu đều: luôn có người dùng mới</a:t>
            </a:r>
            <a:endParaRPr lang="en-US" sz="105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mới 2026 vẫn đạt 11–16K install/ngày</a:t>
            </a:r>
            <a:endParaRPr lang="en-US" sz="105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Chỗ trống: chia sẻ, nhật ký bump, cho bố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48640" y="5230368"/>
            <a:ext cx="3611880" cy="1325880"/>
          </a:xfrm>
          <a:prstGeom prst="roundRect">
            <a:avLst>
              <a:gd name="adj" fmla="val 8276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5321808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Diễn biến install của app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~16K install/ngày, 3M tổng install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Giảm về ~5K/ngày (06–08/09)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Tăng lên ~16K/ngày (20–24/09)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288536" y="5230368"/>
            <a:ext cx="3611880" cy="1325880"/>
          </a:xfrm>
          <a:prstGeom prst="roundRect">
            <a:avLst>
              <a:gd name="adj" fmla="val 8276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471416" y="5321808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Đối thủ tiêu biểu trong ngách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Pregnancy+ (Philips) — 50M+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BabyJoy — 10M+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amma — 10M+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028432" y="5230368"/>
            <a:ext cx="3611880" cy="1325880"/>
          </a:xfrm>
          <a:prstGeom prst="roundRect">
            <a:avLst>
              <a:gd name="adj" fmla="val 8276"/>
            </a:avLst>
          </a:prstGeom>
          <a:solidFill>
            <a:srgbClr val="FEF6E7"/>
          </a:solidFill>
          <a:ln w="6350">
            <a:solidFill>
              <a:srgbClr val="FEF6E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11312" y="5321808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4530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Thách thức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Cạnh tranh cao với app lâu năm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Tỉ lệ app bị gỡ cao (237/443)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Doanh thu/install thấp → phụ thuộc ads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601968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Nguồn: AppstoreSpy · Google Play · dữ liệu crawl 24/09/2026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84048"/>
            <a:ext cx="1842516" cy="292608"/>
          </a:xfrm>
          <a:prstGeom prst="roundRect">
            <a:avLst>
              <a:gd name="adj" fmla="val 50000"/>
            </a:avLst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18425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2 · PARENTING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Quảng cáo đang chạy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video thu thập được · bấm vào video để xem trực tiếp trong slide</a:t>
            </a:r>
            <a:endParaRPr lang="en-US" sz="140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655168" y="1783080"/>
            <a:ext cx="1645920" cy="29260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55168" y="4782312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FDE8EE"/>
          </a:solidFill>
          <a:ln w="12700">
            <a:solidFill>
              <a:srgbClr val="FDE8E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5168" y="47823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Dấu hiệu có thai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609448" y="51023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"Dấu hiệu có thai tuần 1"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609448" y="553212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40s · Tiếng Anh</a:t>
            </a:r>
            <a:endParaRPr lang="en-US" sz="850" dirty="0"/>
          </a:p>
        </p:txBody>
      </p:sp>
      <p:pic>
        <p:nvPicPr>
          <p:cNvPr id="6" name="Media 1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502256" y="1783080"/>
            <a:ext cx="1645920" cy="29260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502256" y="4782312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FDE8EE"/>
          </a:solidFill>
          <a:ln w="12700">
            <a:solidFill>
              <a:srgbClr val="FDE8EE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2502256" y="47823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UGC mẹ bầu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2456536" y="51023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Áp điện thoại lên bụng nghe bé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2456536" y="553212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15s · UGC</a:t>
            </a:r>
            <a:endParaRPr lang="en-US" sz="850" dirty="0"/>
          </a:p>
        </p:txBody>
      </p:sp>
      <p:pic>
        <p:nvPicPr>
          <p:cNvPr id="9" name="Media 2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4349344" y="1783080"/>
            <a:ext cx="1645920" cy="292608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4349344" y="4782312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FDE8EE"/>
          </a:solidFill>
          <a:ln w="12700">
            <a:solidFill>
              <a:srgbClr val="FDE8EE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4349344" y="47823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Meme cảm xúc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4303624" y="51023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"Chờ quá lâu là thế này"</a:t>
            </a:r>
            <a:endParaRPr lang="en-US" sz="950" dirty="0"/>
          </a:p>
        </p:txBody>
      </p:sp>
      <p:sp>
        <p:nvSpPr>
          <p:cNvPr id="21" name="Text 16"/>
          <p:cNvSpPr txBox="1"/>
          <p:nvPr/>
        </p:nvSpPr>
        <p:spPr>
          <a:xfrm>
            <a:off x="4303624" y="553212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30s · Tiếng Anh</a:t>
            </a:r>
            <a:endParaRPr lang="en-US" sz="850" dirty="0"/>
          </a:p>
        </p:txBody>
      </p:sp>
      <p:pic>
        <p:nvPicPr>
          <p:cNvPr id="12" name="Media 3">
            <a:hlinkClick r:id="" action="ppaction://media"/>
          </p:cNvPr>
          <p:cNvPicPr>
            <a:picLocks noChangeAspect="1"/>
          </p:cNvPicPr>
          <p:nvPr>
            <a:vide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6196432" y="1783080"/>
            <a:ext cx="1645920" cy="292608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6196432" y="4782312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FDE8EE"/>
          </a:solidFill>
          <a:ln w="12700">
            <a:solidFill>
              <a:srgbClr val="FDE8EE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6196432" y="47823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POV que thử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6150712" y="51023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"10 DPO – vạch mờ hay bóng?"</a:t>
            </a:r>
            <a:endParaRPr lang="en-US" sz="950" dirty="0"/>
          </a:p>
        </p:txBody>
      </p:sp>
      <p:sp>
        <p:nvSpPr>
          <p:cNvPr id="26" name="Text 20"/>
          <p:cNvSpPr txBox="1"/>
          <p:nvPr/>
        </p:nvSpPr>
        <p:spPr>
          <a:xfrm>
            <a:off x="6150712" y="553212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19s · Tiếng Anh</a:t>
            </a:r>
            <a:endParaRPr lang="en-US" sz="850" dirty="0"/>
          </a:p>
        </p:txBody>
      </p:sp>
      <p:pic>
        <p:nvPicPr>
          <p:cNvPr id="15" name="Media 4">
            <a:hlinkClick r:id="" action="ppaction://media"/>
          </p:cNvPr>
          <p:cNvPicPr>
            <a:picLocks noChangeAspect="1"/>
          </p:cNvPicPr>
          <p:nvPr>
            <a:vide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043520" y="1783080"/>
            <a:ext cx="1645920" cy="2926080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8043520" y="4782312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FDE8EE"/>
          </a:solidFill>
          <a:ln w="12700">
            <a:solidFill>
              <a:srgbClr val="FDE8EE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8043520" y="47823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Thai nhi 3D</a:t>
            </a:r>
            <a:endParaRPr lang="en-US" sz="900" dirty="0"/>
          </a:p>
        </p:txBody>
      </p:sp>
      <p:sp>
        <p:nvSpPr>
          <p:cNvPr id="30" name="Text 23"/>
          <p:cNvSpPr txBox="1"/>
          <p:nvPr/>
        </p:nvSpPr>
        <p:spPr>
          <a:xfrm>
            <a:off x="7997800" y="51023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Phôi thai phát triển + bé 3D</a:t>
            </a:r>
            <a:endParaRPr lang="en-US" sz="950" dirty="0"/>
          </a:p>
        </p:txBody>
      </p:sp>
      <p:sp>
        <p:nvSpPr>
          <p:cNvPr id="31" name="Text 24"/>
          <p:cNvSpPr txBox="1"/>
          <p:nvPr/>
        </p:nvSpPr>
        <p:spPr>
          <a:xfrm>
            <a:off x="7997800" y="553212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33s · Tây Ban Nha</a:t>
            </a:r>
            <a:endParaRPr lang="en-US" sz="850" dirty="0"/>
          </a:p>
        </p:txBody>
      </p:sp>
      <p:pic>
        <p:nvPicPr>
          <p:cNvPr id="18" name="Media 5">
            <a:hlinkClick r:id="" action="ppaction://media"/>
          </p:cNvPr>
          <p:cNvPicPr>
            <a:picLocks noChangeAspect="1"/>
          </p:cNvPicPr>
          <p:nvPr>
            <a:vide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9890608" y="1783080"/>
            <a:ext cx="1645920" cy="2926080"/>
          </a:xfrm>
          <a:prstGeom prst="rect">
            <a:avLst/>
          </a:prstGeom>
        </p:spPr>
      </p:pic>
      <p:sp>
        <p:nvSpPr>
          <p:cNvPr id="33" name="Shape 25"/>
          <p:cNvSpPr/>
          <p:nvPr/>
        </p:nvSpPr>
        <p:spPr>
          <a:xfrm>
            <a:off x="9890608" y="4782312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FDE8EE"/>
          </a:solidFill>
          <a:ln w="12700">
            <a:solidFill>
              <a:srgbClr val="FDE8EE"/>
            </a:solidFill>
            <a:prstDash val="solid"/>
          </a:ln>
        </p:spPr>
      </p:sp>
      <p:sp>
        <p:nvSpPr>
          <p:cNvPr id="34" name="Text 26"/>
          <p:cNvSpPr txBox="1"/>
          <p:nvPr/>
        </p:nvSpPr>
        <p:spPr>
          <a:xfrm>
            <a:off x="9890608" y="47823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Người dẫn AI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9844888" y="51023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"Có tin vui chưa?" + song sinh 3D</a:t>
            </a:r>
            <a:endParaRPr lang="en-US" sz="950" dirty="0"/>
          </a:p>
        </p:txBody>
      </p:sp>
      <p:sp>
        <p:nvSpPr>
          <p:cNvPr id="36" name="Text 28"/>
          <p:cNvSpPr txBox="1"/>
          <p:nvPr/>
        </p:nvSpPr>
        <p:spPr>
          <a:xfrm>
            <a:off x="9844888" y="553212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50s · Tiếng Anh</a:t>
            </a:r>
            <a:endParaRPr lang="en-US" sz="850" dirty="0"/>
          </a:p>
        </p:txBody>
      </p:sp>
      <p:sp>
        <p:nvSpPr>
          <p:cNvPr id="37" name="Shape 29"/>
          <p:cNvSpPr/>
          <p:nvPr/>
        </p:nvSpPr>
        <p:spPr>
          <a:xfrm>
            <a:off x="548640" y="6144768"/>
            <a:ext cx="11091672" cy="438912"/>
          </a:xfrm>
          <a:prstGeom prst="roundRect">
            <a:avLst>
              <a:gd name="adj" fmla="val 25000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731520" y="6144768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Quan sát: </a:t>
            </a:r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4/6 video dùng "test thai bằng vân tay"; nhiều video dùng người dẫn AI + thai nhi 3D. 3/6 video có tên app khác ở cuối (Blood Sugar Care, Pregnancy Tracker &amp; Calculator) — cần xác minh nguồn.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84048"/>
            <a:ext cx="1842516" cy="292608"/>
          </a:xfrm>
          <a:prstGeom prst="roundRect">
            <a:avLst>
              <a:gd name="adj" fmla="val 50000"/>
            </a:avLst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18425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2 · PARENTING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Nhận định &amp; đề xuất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Phần dưới là nhận định của team, dựa trên dữ kiện ở các slide trước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1091672" cy="731520"/>
          </a:xfrm>
          <a:prstGeom prst="roundRect">
            <a:avLst>
              <a:gd name="adj" fmla="val 15000"/>
            </a:avLst>
          </a:prstGeom>
          <a:solidFill>
            <a:srgbClr val="FDE8EE"/>
          </a:solidFill>
          <a:ln w="6350">
            <a:solidFill>
              <a:srgbClr val="FDE8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8288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Nếu làm app tương tự, hướng định vị: </a:t>
            </a:r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nhật ký thai kỳ theo tuần, dễ chia sẻ với gia đình.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3566160" cy="3749040"/>
          </a:xfrm>
          <a:prstGeom prst="roundRect">
            <a:avLst>
              <a:gd name="adj" fmla="val 3077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2834640"/>
            <a:ext cx="32004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Tính năng MVP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Tuần thai + hình bé + so sánh trái cây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Kick counter &amp; đếm cơn gò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Checklist đồ sơ sinh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Gợi ý tên bé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Thẻ tuần thai để chia sẻ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15968" y="2743200"/>
            <a:ext cx="3566160" cy="3749040"/>
          </a:xfrm>
          <a:prstGeom prst="roundRect">
            <a:avLst>
              <a:gd name="adj" fmla="val 3077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17136" y="2834640"/>
            <a:ext cx="32004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Điểm khác biệt có thể tạo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Nhật ký bụng bầu (timeline ảnh)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Chế độ cho bố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Hỏi đáp AI về thai kỳ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Nội dung đa ngôn ngữ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83296" y="2743200"/>
            <a:ext cx="3557016" cy="3749040"/>
          </a:xfrm>
          <a:prstGeom prst="roundRect">
            <a:avLst>
              <a:gd name="adj" fmla="val 3085"/>
            </a:avLst>
          </a:prstGeom>
          <a:solidFill>
            <a:srgbClr val="FDE8EE"/>
          </a:solidFill>
          <a:ln w="6350">
            <a:solidFill>
              <a:srgbClr val="FDE8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84464" y="2834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Hướng creative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284464" y="324612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Glow-up bụng bầu: tuần 8 → tuần 36</a:t>
            </a:r>
            <a:endParaRPr lang="en-US" sz="1050" dirty="0"/>
          </a:p>
          <a:p>
            <a:pPr indent="0" marL="0">
              <a:buNone/>
            </a:pPr>
            <a:r>
              <a:rPr lang="en-US" sz="1050" u="sng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1" invalidUrl="" action="" tgtFrame="" tooltip="https://www.tiktok.com/music/Training-Season-7327973260285544449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Trend Training Season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284464" y="402336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Timeline bump theo tuần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UGC mẹ bầu thật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8284464" y="480060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"Bé tuần này to bằng quả gì?"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Hình thai nhi 3D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284464" y="557784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Reaction bố khi xem bé 3D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Khoảnh khắc cảm xúc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84048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 SÁNH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 sánh 2 app theo dữ kiện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Số liệu từ AppstoreSpy (24/09/2026) · Google Play · video quảng cáo thu thập được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7863840" cy="4709160"/>
          </a:xfrm>
          <a:prstGeom prst="roundRect">
            <a:avLst>
              <a:gd name="adj" fmla="val 2330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9019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Tiêu chí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190195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Health Tracker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897880" y="190195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Pregnancy Tracker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340864"/>
            <a:ext cx="7498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2359152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Danh mục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383280" y="235915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Health &amp; Fitness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897880" y="235915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Parenting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2798064"/>
            <a:ext cx="7498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2816352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 mắt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383280" y="281635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06/2026 (~3 tháng)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897880" y="281635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02/2026 (~7 tháng)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255264"/>
            <a:ext cx="7498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3273552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Install/ngày của app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383280" y="327355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~8K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897880" y="327355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~16K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3712464"/>
            <a:ext cx="7498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" y="3730752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Xu hướng 30 ngày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3383280" y="373075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Tăng theo đợt, cuối T9 giảm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897880" y="373075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Tăng mạnh cuối T9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1520" y="4169664"/>
            <a:ext cx="7498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31520" y="4187952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Quy mô ngách (install/ngày)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3383280" y="418795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~32K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897880" y="418795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~213K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31520" y="4626864"/>
            <a:ext cx="7498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31520" y="4645152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Kiếm tiền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3383280" y="464515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IAP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897880" y="464515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Quảng cáo + IAP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31520" y="5084064"/>
            <a:ext cx="7498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31520" y="5102352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Tần suất dùng (theo tính năng)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3383280" y="510235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Hằng ngày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5897880" y="510235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Hằng tuần → hằng ngày cuối thai kỳ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31520" y="5541264"/>
            <a:ext cx="7498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31520" y="5559552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Format quảng cáo quan sát được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3383280" y="555955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Phim ngắn AI, chuyên gia, UGC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5897880" y="555955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Người dẫn AI, thai nhi 3D, UGC, POV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31520" y="5998464"/>
            <a:ext cx="7498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31520" y="6016752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Cần xác minh thêm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3383280" y="601675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Retention, doanh thu thật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5897880" y="601675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Retention, doanh thu thật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595360" y="1828800"/>
            <a:ext cx="3044952" cy="4709160"/>
          </a:xfrm>
          <a:prstGeom prst="roundRect">
            <a:avLst>
              <a:gd name="adj" fmla="val 3604"/>
            </a:avLst>
          </a:prstGeom>
          <a:solidFill>
            <a:srgbClr val="EEEBFF"/>
          </a:solidFill>
          <a:ln w="6350">
            <a:solidFill>
              <a:srgbClr val="EEEBF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778240" y="1965960"/>
            <a:ext cx="26974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D5D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Kết luận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Pregnancy có ngách lớn hơn và install đang tăng; AI Health dùng hằng ngày, kiếm tiền bằng IAP.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Đề xuất: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nghiên cứu sâu Pregnancy trước, theo dõi tiếp AI Health.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Sẽ xem lại nếu dữ liệu retention / doanh thu cho kết quả ngược lại.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80560" y="1188720"/>
            <a:ext cx="3200400" cy="3200400"/>
          </a:xfrm>
          <a:prstGeom prst="ellipse">
            <a:avLst/>
          </a:prstGeom>
          <a:solidFill>
            <a:srgbClr val="EEEBFF"/>
          </a:solidFill>
          <a:ln w="12700">
            <a:solidFill>
              <a:srgbClr val="EEEB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371600" y="2194560"/>
            <a:ext cx="94457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you!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840480"/>
            <a:ext cx="9445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Link TikTok bấm được ở slide trend · video phát trực tiếp trong slide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App &amp; New Trend – 24/09/2026</dc:title>
  <dc:subject>PptxGenJS Presentation</dc:subject>
  <dc:creator>PptxGenJS</dc:creator>
  <cp:lastModifiedBy>PptxGenJS</cp:lastModifiedBy>
  <cp:revision>1</cp:revision>
  <dcterms:created xsi:type="dcterms:W3CDTF">2026-09-25T00:57:29Z</dcterms:created>
  <dcterms:modified xsi:type="dcterms:W3CDTF">2026-09-25T00:57:29Z</dcterms:modified>
</cp:coreProperties>
</file>