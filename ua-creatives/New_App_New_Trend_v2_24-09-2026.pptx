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iktok.com/tag/septemberchallenge" TargetMode="External"/><Relationship Id="rId3" Type="http://schemas.openxmlformats.org/officeDocument/2006/relationships/hyperlink" Target="https://www.tiktok.com/discover/what-is-the-september-challenge" TargetMode="External"/><Relationship Id="rId4" Type="http://schemas.openxmlformats.org/officeDocument/2006/relationships/hyperlink" Target="https://www.tiktok.com/discover/10k-steps-a-day-with-just-water-for-a-month-results" TargetMode="External"/><Relationship Id="rId5" Type="http://schemas.openxmlformats.org/officeDocument/2006/relationships/hyperlink" Target="https://www.tiktok.com/discover/10000-steps-a-day-before-and-after-month?lang=en" TargetMode="External"/><Relationship Id="rId6" Type="http://schemas.openxmlformats.org/officeDocument/2006/relationships/hyperlink" Target="https://www.tiktok.com/@anastazia/video/7641999391238278422" TargetMode="External"/><Relationship Id="rId7" Type="http://schemas.openxmlformats.org/officeDocument/2006/relationships/hyperlink" Target="https://www.tiktok.com/@lillievintage/video/7645189995380198678" TargetMode="External"/><Relationship Id="rId8" Type="http://schemas.openxmlformats.org/officeDocument/2006/relationships/hyperlink" Target="https://www.tiktok.com/@msjsmn3/video/7651669380715023630" TargetMode="External"/><Relationship Id="rId9" Type="http://schemas.openxmlformats.org/officeDocument/2006/relationships/hyperlink" Target="https://www.tiktok.com/tag/bump" TargetMode="External"/><Relationship Id="rId1" Type="http://schemas.openxmlformats.org/officeDocument/2006/relationships/image" Target="../media/Slide-2-image-1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iktok.com/@xiww56/video/7673424890669681950" TargetMode="External"/><Relationship Id="rId3" Type="http://schemas.openxmlformats.org/officeDocument/2006/relationships/hyperlink" Target="https://www.tiktok.com/@chainsaw_zilong/video/7672320611473001749" TargetMode="External"/><Relationship Id="rId4" Type="http://schemas.openxmlformats.org/officeDocument/2006/relationships/hyperlink" Target="https://www.tiktok.com/@user4841088481780/video/7677947740621393173" TargetMode="External"/><Relationship Id="rId5" Type="http://schemas.openxmlformats.org/officeDocument/2006/relationships/hyperlink" Target="https://www.tiktok.com/discover/cheek-pinch-challenge-filter-name" TargetMode="External"/><Relationship Id="rId6" Type="http://schemas.openxmlformats.org/officeDocument/2006/relationships/hyperlink" Target="https://www.tiktok.com/@thewilliamsfam_/video/7593576912857861406" TargetMode="External"/><Relationship Id="rId7" Type="http://schemas.openxmlformats.org/officeDocument/2006/relationships/hyperlink" Target="https://www.tiktok.com/discover/baby-dance-ai-effect-app-trend" TargetMode="External"/><Relationship Id="rId8" Type="http://schemas.openxmlformats.org/officeDocument/2006/relationships/hyperlink" Target="https://www.tiktok.com/en/trending/detail/future-child-filter" TargetMode="External"/><Relationship Id="rId9" Type="http://schemas.openxmlformats.org/officeDocument/2006/relationships/hyperlink" Target="https://www.tiktok.com/discover/what-our-kids-would-look-like-filter" TargetMode="External"/><Relationship Id="rId1" Type="http://schemas.openxmlformats.org/officeDocument/2006/relationships/image" Target="../media/Slide-3-image-1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iktok.com/@howelclplwt/video/7663693037050105101" TargetMode="External"/><Relationship Id="rId3" Type="http://schemas.openxmlformats.org/officeDocument/2006/relationships/hyperlink" Target="https://www.tiktok.com/discover/chiki-sha-trend" TargetMode="External"/><Relationship Id="rId4" Type="http://schemas.openxmlformats.org/officeDocument/2006/relationships/hyperlink" Target="https://www.tiktok.com/@joelle.peschl/video/7618679216485207329" TargetMode="External"/><Relationship Id="rId5" Type="http://schemas.openxmlformats.org/officeDocument/2006/relationships/hyperlink" Target="https://www.tiktok.com/discover/two-person-dance" TargetMode="External"/><Relationship Id="rId6" Type="http://schemas.openxmlformats.org/officeDocument/2006/relationships/hyperlink" Target="https://www.tiktok.com/@madisonknowsbest/video/7679985572701637919" TargetMode="External"/><Relationship Id="rId7" Type="http://schemas.openxmlformats.org/officeDocument/2006/relationships/hyperlink" Target="https://www.tiktok.com/discover/trending-sounds-september-2026" TargetMode="External"/><Relationship Id="rId1" Type="http://schemas.openxmlformats.org/officeDocument/2006/relationships/image" Target="../media/Slide-4-image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0F0F14"/>
          </a:solidFill>
          <a:ln w="15875">
            <a:solidFill>
              <a:srgbClr val="25F4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0972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WEEKLY RESEARCH · 24/09/2026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99516" y="16687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 APP</a:t>
            </a:r>
            <a:endParaRPr lang="en-US" sz="8000" dirty="0"/>
          </a:p>
        </p:txBody>
      </p:sp>
      <p:sp>
        <p:nvSpPr>
          <p:cNvPr id="5" name="Text 3"/>
          <p:cNvSpPr txBox="1"/>
          <p:nvPr/>
        </p:nvSpPr>
        <p:spPr>
          <a:xfrm>
            <a:off x="763524" y="17145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E2C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 APP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6916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 APP</a:t>
            </a:r>
            <a:endParaRPr lang="en-US" sz="8000" dirty="0"/>
          </a:p>
        </p:txBody>
      </p:sp>
      <p:sp>
        <p:nvSpPr>
          <p:cNvPr id="7" name="Text 5"/>
          <p:cNvSpPr txBox="1"/>
          <p:nvPr/>
        </p:nvSpPr>
        <p:spPr>
          <a:xfrm>
            <a:off x="699516" y="27660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× NEW TREND</a:t>
            </a:r>
            <a:endParaRPr lang="en-US" sz="8000" dirty="0"/>
          </a:p>
        </p:txBody>
      </p:sp>
      <p:sp>
        <p:nvSpPr>
          <p:cNvPr id="8" name="Text 6"/>
          <p:cNvSpPr txBox="1"/>
          <p:nvPr/>
        </p:nvSpPr>
        <p:spPr>
          <a:xfrm>
            <a:off x="763524" y="28117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E2C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× NEW TREND</a:t>
            </a:r>
            <a:endParaRPr lang="en-US" sz="8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7889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× NEW TREND</a:t>
            </a:r>
            <a:endParaRPr lang="en-US" sz="8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2062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3A3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 TikTok tháng 9 cho creative quảng cáo  ·  2 app mới: AI Health Tracker &amp; Pregnancy Tracker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983480"/>
            <a:ext cx="868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50292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 mới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4983480"/>
            <a:ext cx="868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E2C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50292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nhóm trend: Challenge, Filter, Dance, Sound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4983480"/>
            <a:ext cx="868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9098280" y="502920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mới chưa có trong file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 TREND · 01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16636" y="6355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 — trend thói quen &amp; mẹ bầu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80644" y="6812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E2C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 — trend thói quen &amp; mẹ bầu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 — trend thói quen &amp; mẹ bầu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567178" cy="4800600"/>
          </a:xfrm>
          <a:prstGeom prst="roundRect">
            <a:avLst>
              <a:gd name="adj" fmla="val 4987"/>
            </a:avLst>
          </a:prstGeom>
          <a:solidFill>
            <a:srgbClr val="1C1C26"/>
          </a:solidFill>
          <a:ln w="9525">
            <a:solidFill>
              <a:srgbClr val="2E2E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77440"/>
            <a:ext cx="20185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#SeptemberChallenge – 30 ngày kỷ luật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08960"/>
            <a:ext cx="20185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3A3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 ngày giữ thói quen: chỉ uống nước, ngủ 7–8h, 10K bước/ngày, tập 4 buổi/tuần — quay recap mỗi ngày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4206240"/>
            <a:ext cx="2018538" cy="0"/>
          </a:xfrm>
          <a:prstGeom prst="line">
            <a:avLst/>
          </a:prstGeom>
          <a:noFill/>
          <a:ln w="12700">
            <a:solidFill>
              <a:srgbClr val="2E2E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315968"/>
            <a:ext cx="2018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DÙNG CHO APP</a:t>
            </a:r>
            <a:endParaRPr lang="en-US" sz="950" dirty="0"/>
          </a:p>
          <a:p>
            <a:pPr indent="0" marL="0">
              <a:buNone/>
            </a:pPr>
            <a:r>
              <a:rPr lang="en-US" sz="1150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Health tracker, Water / Step tracker, Habit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22960" y="5559552"/>
            <a:ext cx="2018538" cy="310896"/>
          </a:xfrm>
          <a:prstGeom prst="roundRect">
            <a:avLst>
              <a:gd name="adj" fmla="val 50000"/>
            </a:avLst>
          </a:prstGeom>
          <a:solidFill>
            <a:srgbClr val="25F4EE"/>
          </a:solidFill>
          <a:ln w="12700">
            <a:solidFill>
              <a:srgbClr val="25F4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5559552"/>
            <a:ext cx="20185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F0F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2" invalidUrl="" action="" tgtFrame="" tooltip="https://www.tiktok.com/tag/septemberchalleng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Xem trend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5943600"/>
            <a:ext cx="2018538" cy="310896"/>
          </a:xfrm>
          <a:prstGeom prst="roundRect">
            <a:avLst>
              <a:gd name="adj" fmla="val 50000"/>
            </a:avLst>
          </a:prstGeom>
          <a:solidFill>
            <a:srgbClr val="0F0F14"/>
          </a:solidFill>
          <a:ln w="12700">
            <a:solidFill>
              <a:srgbClr val="25F4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5943600"/>
            <a:ext cx="20185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3" invalidUrl="" action="" tgtFrame="" tooltip="https://www.tiktok.com/discover/what-is-the-september-challeng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Luật challenge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90138" y="1600200"/>
            <a:ext cx="2567178" cy="4800600"/>
          </a:xfrm>
          <a:prstGeom prst="roundRect">
            <a:avLst>
              <a:gd name="adj" fmla="val 4987"/>
            </a:avLst>
          </a:prstGeom>
          <a:solidFill>
            <a:srgbClr val="1C1C26"/>
          </a:solidFill>
          <a:ln w="9525">
            <a:solidFill>
              <a:srgbClr val="2E2E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64458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3664458" y="2377440"/>
            <a:ext cx="20185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10K bước + chỉ uống nước 1 tháng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664458" y="3108960"/>
            <a:ext cx="20185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3A3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Video "kết quả sau 1 tháng": before / after cơ thể, số bước, cân nặng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64458" y="4206240"/>
            <a:ext cx="2018538" cy="0"/>
          </a:xfrm>
          <a:prstGeom prst="line">
            <a:avLst/>
          </a:prstGeom>
          <a:noFill/>
          <a:ln w="12700">
            <a:solidFill>
              <a:srgbClr val="2E2E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64458" y="4315968"/>
            <a:ext cx="2018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DÙNG CHO APP</a:t>
            </a:r>
            <a:endParaRPr lang="en-US" sz="950" dirty="0"/>
          </a:p>
          <a:p>
            <a:pPr indent="0" marL="0">
              <a:buNone/>
            </a:pPr>
            <a:r>
              <a:rPr lang="en-US" sz="1150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Health tracker, Step counter, Fitness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64458" y="5559552"/>
            <a:ext cx="2018538" cy="310896"/>
          </a:xfrm>
          <a:prstGeom prst="roundRect">
            <a:avLst>
              <a:gd name="adj" fmla="val 50000"/>
            </a:avLst>
          </a:prstGeom>
          <a:solidFill>
            <a:srgbClr val="25F4EE"/>
          </a:solidFill>
          <a:ln w="12700">
            <a:solidFill>
              <a:srgbClr val="25F4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664458" y="5559552"/>
            <a:ext cx="20185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F0F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4" invalidUrl="" action="" tgtFrame="" tooltip="https://www.tiktok.com/discover/10k-steps-a-day-with-just-water-for-a-month-result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Xem trend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64458" y="5943600"/>
            <a:ext cx="2018538" cy="310896"/>
          </a:xfrm>
          <a:prstGeom prst="roundRect">
            <a:avLst>
              <a:gd name="adj" fmla="val 50000"/>
            </a:avLst>
          </a:prstGeom>
          <a:solidFill>
            <a:srgbClr val="0F0F14"/>
          </a:solidFill>
          <a:ln w="12700">
            <a:solidFill>
              <a:srgbClr val="25F4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664458" y="5943600"/>
            <a:ext cx="20185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5" invalidUrl="" action="" tgtFrame="" tooltip="https://www.tiktok.com/discover/10000-steps-a-day-before-and-after-month?lang=e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Before / After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31636" y="1600200"/>
            <a:ext cx="2567178" cy="4800600"/>
          </a:xfrm>
          <a:prstGeom prst="roundRect">
            <a:avLst>
              <a:gd name="adj" fmla="val 4987"/>
            </a:avLst>
          </a:prstGeom>
          <a:solidFill>
            <a:srgbClr val="1C1C26"/>
          </a:solidFill>
          <a:ln w="9525">
            <a:solidFill>
              <a:srgbClr val="2E2E3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05956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6505956" y="2377440"/>
            <a:ext cx="20185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Addams Family bump transition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505956" y="3108960"/>
            <a:ext cx="20185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3A3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Mẹ bầu búng tay theo nhạc Addams Family, mỗi nhịp nhảy 1 tuần thai (tuần 30 → 40)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505956" y="4206240"/>
            <a:ext cx="2018538" cy="0"/>
          </a:xfrm>
          <a:prstGeom prst="line">
            <a:avLst/>
          </a:prstGeom>
          <a:noFill/>
          <a:ln w="12700">
            <a:solidFill>
              <a:srgbClr val="2E2E3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05956" y="4315968"/>
            <a:ext cx="2018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DÙNG CHO APP</a:t>
            </a:r>
            <a:endParaRPr lang="en-US" sz="950" dirty="0"/>
          </a:p>
          <a:p>
            <a:pPr indent="0" marL="0">
              <a:buNone/>
            </a:pPr>
            <a:r>
              <a:rPr lang="en-US" sz="1150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Pregnancy tracker, Baby app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505956" y="5559552"/>
            <a:ext cx="2018538" cy="310896"/>
          </a:xfrm>
          <a:prstGeom prst="roundRect">
            <a:avLst>
              <a:gd name="adj" fmla="val 50000"/>
            </a:avLst>
          </a:prstGeom>
          <a:solidFill>
            <a:srgbClr val="25F4EE"/>
          </a:solidFill>
          <a:ln w="12700">
            <a:solidFill>
              <a:srgbClr val="25F4E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05956" y="5559552"/>
            <a:ext cx="20185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F0F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6" invalidUrl="" action="" tgtFrame="" tooltip="https://www.tiktok.com/@anastazia/video/7641999391238278422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Video mẫu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505956" y="5943600"/>
            <a:ext cx="2018538" cy="310896"/>
          </a:xfrm>
          <a:prstGeom prst="roundRect">
            <a:avLst>
              <a:gd name="adj" fmla="val 50000"/>
            </a:avLst>
          </a:prstGeom>
          <a:solidFill>
            <a:srgbClr val="0F0F14"/>
          </a:solidFill>
          <a:ln w="12700">
            <a:solidFill>
              <a:srgbClr val="25F4E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505956" y="5943600"/>
            <a:ext cx="20185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7" invalidUrl="" action="" tgtFrame="" tooltip="https://www.tiktok.com/@lillievintage/video/7645189995380198678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Video mẫu 2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073134" y="1600200"/>
            <a:ext cx="2567178" cy="4800600"/>
          </a:xfrm>
          <a:prstGeom prst="roundRect">
            <a:avLst>
              <a:gd name="adj" fmla="val 4987"/>
            </a:avLst>
          </a:prstGeom>
          <a:solidFill>
            <a:srgbClr val="1C1C26"/>
          </a:solidFill>
          <a:ln w="9525">
            <a:solidFill>
              <a:srgbClr val="2E2E3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347454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600" dirty="0"/>
          </a:p>
        </p:txBody>
      </p:sp>
      <p:sp>
        <p:nvSpPr>
          <p:cNvPr id="38" name="Text 36"/>
          <p:cNvSpPr txBox="1"/>
          <p:nvPr/>
        </p:nvSpPr>
        <p:spPr>
          <a:xfrm>
            <a:off x="9347454" y="2377440"/>
            <a:ext cx="20185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Bump sticker timeline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9347454" y="3108960"/>
            <a:ext cx="20185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3A3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Chụp bụng bầu mỗi tuần kèm sticker số tuần, ghép thành timeline từ tuần 1 → 37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9347454" y="4206240"/>
            <a:ext cx="2018538" cy="0"/>
          </a:xfrm>
          <a:prstGeom prst="line">
            <a:avLst/>
          </a:prstGeom>
          <a:noFill/>
          <a:ln w="12700">
            <a:solidFill>
              <a:srgbClr val="2E2E3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347454" y="4315968"/>
            <a:ext cx="2018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DÙNG CHO APP</a:t>
            </a:r>
            <a:endParaRPr lang="en-US" sz="950" dirty="0"/>
          </a:p>
          <a:p>
            <a:pPr indent="0" marL="0">
              <a:buNone/>
            </a:pPr>
            <a:r>
              <a:rPr lang="en-US" sz="1150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Pregnancy tracker, Photo / Sticker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347454" y="5559552"/>
            <a:ext cx="2018538" cy="310896"/>
          </a:xfrm>
          <a:prstGeom prst="roundRect">
            <a:avLst>
              <a:gd name="adj" fmla="val 50000"/>
            </a:avLst>
          </a:prstGeom>
          <a:solidFill>
            <a:srgbClr val="25F4EE"/>
          </a:solidFill>
          <a:ln w="12700">
            <a:solidFill>
              <a:srgbClr val="25F4E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347454" y="5559552"/>
            <a:ext cx="20185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F0F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8" invalidUrl="" action="" tgtFrame="" tooltip="https://www.tiktok.com/@msjsmn3/video/7651669380715023630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Video mẫu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347454" y="5943600"/>
            <a:ext cx="2018538" cy="310896"/>
          </a:xfrm>
          <a:prstGeom prst="roundRect">
            <a:avLst>
              <a:gd name="adj" fmla="val 50000"/>
            </a:avLst>
          </a:prstGeom>
          <a:solidFill>
            <a:srgbClr val="0F0F14"/>
          </a:solidFill>
          <a:ln w="12700">
            <a:solidFill>
              <a:srgbClr val="25F4E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347454" y="5943600"/>
            <a:ext cx="20185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9" invalidUrl="" action="" tgtFrame="" tooltip="https://www.tiktok.com/tag/bump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#bump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E2C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 TREND · 02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16636" y="6355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Filter &amp; AI effect — đang viral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80644" y="6812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E2C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Filter &amp; AI effect — đang viral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Filter &amp; AI effect — đang viral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567178" cy="4800600"/>
          </a:xfrm>
          <a:prstGeom prst="roundRect">
            <a:avLst>
              <a:gd name="adj" fmla="val 4987"/>
            </a:avLst>
          </a:prstGeom>
          <a:solidFill>
            <a:srgbClr val="1C1C26"/>
          </a:solidFill>
          <a:ln w="9525">
            <a:solidFill>
              <a:srgbClr val="2E2E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E2C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77440"/>
            <a:ext cx="20185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Matcha filter (Wild Hearts Whisper)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08960"/>
            <a:ext cx="20185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3A3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Selfie biến thành tranh chảy màu xanh matcha, mơ màng; làm bằng template CapCut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4206240"/>
            <a:ext cx="2018538" cy="0"/>
          </a:xfrm>
          <a:prstGeom prst="line">
            <a:avLst/>
          </a:prstGeom>
          <a:noFill/>
          <a:ln w="12700">
            <a:solidFill>
              <a:srgbClr val="2E2E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315968"/>
            <a:ext cx="2018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E2C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DÙNG CHO APP</a:t>
            </a:r>
            <a:endParaRPr lang="en-US" sz="950" dirty="0"/>
          </a:p>
          <a:p>
            <a:pPr indent="0" marL="0">
              <a:buNone/>
            </a:pPr>
            <a:r>
              <a:rPr lang="en-US" sz="1150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Photo, Photo editor, Filter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22960" y="5559552"/>
            <a:ext cx="2018538" cy="310896"/>
          </a:xfrm>
          <a:prstGeom prst="roundRect">
            <a:avLst>
              <a:gd name="adj" fmla="val 50000"/>
            </a:avLst>
          </a:prstGeom>
          <a:solidFill>
            <a:srgbClr val="FE2C55"/>
          </a:solidFill>
          <a:ln w="12700">
            <a:solidFill>
              <a:srgbClr val="FE2C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5559552"/>
            <a:ext cx="20185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F0F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2" invalidUrl="" action="" tgtFrame="" tooltip="https://www.tiktok.com/@xiww56/video/7673424890669681950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Video mẫu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5943600"/>
            <a:ext cx="2018538" cy="310896"/>
          </a:xfrm>
          <a:prstGeom prst="roundRect">
            <a:avLst>
              <a:gd name="adj" fmla="val 50000"/>
            </a:avLst>
          </a:prstGeom>
          <a:solidFill>
            <a:srgbClr val="0F0F14"/>
          </a:solidFill>
          <a:ln w="12700">
            <a:solidFill>
              <a:srgbClr val="FE2C5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5943600"/>
            <a:ext cx="20185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E2C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3" invalidUrl="" action="" tgtFrame="" tooltip="https://www.tiktok.com/@chainsaw_zilong/video/7672320611473001749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Tutorial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90138" y="1600200"/>
            <a:ext cx="2567178" cy="4800600"/>
          </a:xfrm>
          <a:prstGeom prst="roundRect">
            <a:avLst>
              <a:gd name="adj" fmla="val 4987"/>
            </a:avLst>
          </a:prstGeom>
          <a:solidFill>
            <a:srgbClr val="1C1C26"/>
          </a:solidFill>
          <a:ln w="9525">
            <a:solidFill>
              <a:srgbClr val="2E2E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64458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E2C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3664458" y="2377440"/>
            <a:ext cx="20185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Cheek / hand pinch filter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664458" y="3108960"/>
            <a:ext cx="20185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3A3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Bàn tay ảo véo má khi nhắm mắt — tạo cảm giác "bị véo thật", gợi kỷ niệm tuổi thơ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64458" y="4206240"/>
            <a:ext cx="2018538" cy="0"/>
          </a:xfrm>
          <a:prstGeom prst="line">
            <a:avLst/>
          </a:prstGeom>
          <a:noFill/>
          <a:ln w="12700">
            <a:solidFill>
              <a:srgbClr val="2E2E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64458" y="4315968"/>
            <a:ext cx="2018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E2C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DÙNG CHO APP</a:t>
            </a:r>
            <a:endParaRPr lang="en-US" sz="950" dirty="0"/>
          </a:p>
          <a:p>
            <a:pPr indent="0" marL="0">
              <a:buNone/>
            </a:pPr>
            <a:r>
              <a:rPr lang="en-US" sz="1150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Sticker, AI Photo, Prank; nhắc nhở uống nước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64458" y="5559552"/>
            <a:ext cx="2018538" cy="310896"/>
          </a:xfrm>
          <a:prstGeom prst="roundRect">
            <a:avLst>
              <a:gd name="adj" fmla="val 50000"/>
            </a:avLst>
          </a:prstGeom>
          <a:solidFill>
            <a:srgbClr val="FE2C55"/>
          </a:solidFill>
          <a:ln w="12700">
            <a:solidFill>
              <a:srgbClr val="FE2C5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664458" y="5559552"/>
            <a:ext cx="20185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F0F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4" invalidUrl="" action="" tgtFrame="" tooltip="https://www.tiktok.com/@user4841088481780/video/7677947740621393173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Video mẫu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64458" y="5943600"/>
            <a:ext cx="2018538" cy="310896"/>
          </a:xfrm>
          <a:prstGeom prst="roundRect">
            <a:avLst>
              <a:gd name="adj" fmla="val 50000"/>
            </a:avLst>
          </a:prstGeom>
          <a:solidFill>
            <a:srgbClr val="0F0F14"/>
          </a:solidFill>
          <a:ln w="12700">
            <a:solidFill>
              <a:srgbClr val="FE2C5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664458" y="5943600"/>
            <a:ext cx="20185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E2C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5" invalidUrl="" action="" tgtFrame="" tooltip="https://www.tiktok.com/discover/cheek-pinch-challenge-filter-nam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Tìm filter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31636" y="1600200"/>
            <a:ext cx="2567178" cy="4800600"/>
          </a:xfrm>
          <a:prstGeom prst="roundRect">
            <a:avLst>
              <a:gd name="adj" fmla="val 4987"/>
            </a:avLst>
          </a:prstGeom>
          <a:solidFill>
            <a:srgbClr val="1C1C26"/>
          </a:solidFill>
          <a:ln w="9525">
            <a:solidFill>
              <a:srgbClr val="2E2E3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05956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E2C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6505956" y="2377440"/>
            <a:ext cx="20185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Baby Dance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505956" y="3108960"/>
            <a:ext cx="20185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3A3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ảnh em bé → AI tạo video bé nhảy theo nhạc ("Don't Play With Me", "That's the Jawn")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505956" y="4206240"/>
            <a:ext cx="2018538" cy="0"/>
          </a:xfrm>
          <a:prstGeom prst="line">
            <a:avLst/>
          </a:prstGeom>
          <a:noFill/>
          <a:ln w="12700">
            <a:solidFill>
              <a:srgbClr val="2E2E3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05956" y="4315968"/>
            <a:ext cx="2018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E2C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DÙNG CHO APP</a:t>
            </a:r>
            <a:endParaRPr lang="en-US" sz="950" dirty="0"/>
          </a:p>
          <a:p>
            <a:pPr indent="0" marL="0">
              <a:buNone/>
            </a:pPr>
            <a:r>
              <a:rPr lang="en-US" sz="1150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Video, AI Baby generator, Pregnancy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505956" y="5559552"/>
            <a:ext cx="2018538" cy="310896"/>
          </a:xfrm>
          <a:prstGeom prst="roundRect">
            <a:avLst>
              <a:gd name="adj" fmla="val 50000"/>
            </a:avLst>
          </a:prstGeom>
          <a:solidFill>
            <a:srgbClr val="FE2C55"/>
          </a:solidFill>
          <a:ln w="12700">
            <a:solidFill>
              <a:srgbClr val="FE2C5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05956" y="5559552"/>
            <a:ext cx="20185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F0F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6" invalidUrl="" action="" tgtFrame="" tooltip="https://www.tiktok.com/@thewilliamsfam_/video/7593576912857861406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Video mẫu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505956" y="5943600"/>
            <a:ext cx="2018538" cy="310896"/>
          </a:xfrm>
          <a:prstGeom prst="roundRect">
            <a:avLst>
              <a:gd name="adj" fmla="val 50000"/>
            </a:avLst>
          </a:prstGeom>
          <a:solidFill>
            <a:srgbClr val="0F0F14"/>
          </a:solidFill>
          <a:ln w="12700">
            <a:solidFill>
              <a:srgbClr val="FE2C5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505956" y="5943600"/>
            <a:ext cx="20185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E2C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7" invalidUrl="" action="" tgtFrame="" tooltip="https://www.tiktok.com/discover/baby-dance-ai-effect-app-trend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Xem trend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073134" y="1600200"/>
            <a:ext cx="2567178" cy="4800600"/>
          </a:xfrm>
          <a:prstGeom prst="roundRect">
            <a:avLst>
              <a:gd name="adj" fmla="val 4987"/>
            </a:avLst>
          </a:prstGeom>
          <a:solidFill>
            <a:srgbClr val="1C1C26"/>
          </a:solidFill>
          <a:ln w="9525">
            <a:solidFill>
              <a:srgbClr val="2E2E3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347454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E2C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600" dirty="0"/>
          </a:p>
        </p:txBody>
      </p:sp>
      <p:sp>
        <p:nvSpPr>
          <p:cNvPr id="38" name="Text 36"/>
          <p:cNvSpPr txBox="1"/>
          <p:nvPr/>
        </p:nvSpPr>
        <p:spPr>
          <a:xfrm>
            <a:off x="9347454" y="2377440"/>
            <a:ext cx="20185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child filter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9347454" y="3108960"/>
            <a:ext cx="20185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3A3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Ghép ảnh 2 người → AI đoán con sẽ trông thế nào; cặp đôi quay reaction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9347454" y="4206240"/>
            <a:ext cx="2018538" cy="0"/>
          </a:xfrm>
          <a:prstGeom prst="line">
            <a:avLst/>
          </a:prstGeom>
          <a:noFill/>
          <a:ln w="12700">
            <a:solidFill>
              <a:srgbClr val="2E2E3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347454" y="4315968"/>
            <a:ext cx="2018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E2C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DÙNG CHO APP</a:t>
            </a:r>
            <a:endParaRPr lang="en-US" sz="950" dirty="0"/>
          </a:p>
          <a:p>
            <a:pPr indent="0" marL="0">
              <a:buNone/>
            </a:pPr>
            <a:r>
              <a:rPr lang="en-US" sz="1150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Baby generator, Couple app, Pregnancy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347454" y="5559552"/>
            <a:ext cx="2018538" cy="310896"/>
          </a:xfrm>
          <a:prstGeom prst="roundRect">
            <a:avLst>
              <a:gd name="adj" fmla="val 50000"/>
            </a:avLst>
          </a:prstGeom>
          <a:solidFill>
            <a:srgbClr val="FE2C55"/>
          </a:solidFill>
          <a:ln w="12700">
            <a:solidFill>
              <a:srgbClr val="FE2C5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347454" y="5559552"/>
            <a:ext cx="20185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F0F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8" invalidUrl="" action="" tgtFrame="" tooltip="https://www.tiktok.com/en/trending/detail/future-child-filt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Xem trend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347454" y="5943600"/>
            <a:ext cx="2018538" cy="310896"/>
          </a:xfrm>
          <a:prstGeom prst="roundRect">
            <a:avLst>
              <a:gd name="adj" fmla="val 50000"/>
            </a:avLst>
          </a:prstGeom>
          <a:solidFill>
            <a:srgbClr val="0F0F14"/>
          </a:solidFill>
          <a:ln w="12700">
            <a:solidFill>
              <a:srgbClr val="FE2C55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347454" y="5943600"/>
            <a:ext cx="20185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E2C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9" invalidUrl="" action="" tgtFrame="" tooltip="https://www.tiktok.com/discover/what-our-kids-would-look-like-filt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Couple filter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 TREND · 03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16636" y="6355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Dance &amp; Sound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80644" y="6812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E2C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Dance &amp; Sound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Dance &amp; Sound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514344" cy="4800600"/>
          </a:xfrm>
          <a:prstGeom prst="roundRect">
            <a:avLst>
              <a:gd name="adj" fmla="val 3643"/>
            </a:avLst>
          </a:prstGeom>
          <a:solidFill>
            <a:srgbClr val="1C1C26"/>
          </a:solidFill>
          <a:ln w="9525">
            <a:solidFill>
              <a:srgbClr val="2E2E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77440"/>
            <a:ext cx="2965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Chiki Sha (Brazil – Baile do Arthur)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08960"/>
            <a:ext cx="2965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3A3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Vũ đạo Brazil ngắn, lặp lại, nhảy 1 mình hoặc theo nhóm; rất nhiều bản tutorial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4206240"/>
            <a:ext cx="2965704" cy="0"/>
          </a:xfrm>
          <a:prstGeom prst="line">
            <a:avLst/>
          </a:prstGeom>
          <a:noFill/>
          <a:ln w="12700">
            <a:solidFill>
              <a:srgbClr val="2E2E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315968"/>
            <a:ext cx="2965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DÙNG CHO APP</a:t>
            </a:r>
            <a:endParaRPr lang="en-US" sz="950" dirty="0"/>
          </a:p>
          <a:p>
            <a:pPr indent="0" marL="0">
              <a:buNone/>
            </a:pPr>
            <a:r>
              <a:rPr lang="en-US" sz="1150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Dance, Sticker, Filter; hook mở đầu vui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22960" y="5559552"/>
            <a:ext cx="2965704" cy="310896"/>
          </a:xfrm>
          <a:prstGeom prst="roundRect">
            <a:avLst>
              <a:gd name="adj" fmla="val 50000"/>
            </a:avLst>
          </a:prstGeom>
          <a:solidFill>
            <a:srgbClr val="25F4EE"/>
          </a:solidFill>
          <a:ln w="12700">
            <a:solidFill>
              <a:srgbClr val="25F4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5559552"/>
            <a:ext cx="2965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F0F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2" invalidUrl="" action="" tgtFrame="" tooltip="https://www.tiktok.com/@howelclplwt/video/7663693037050105101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Video mẫu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5943600"/>
            <a:ext cx="2965704" cy="310896"/>
          </a:xfrm>
          <a:prstGeom prst="roundRect">
            <a:avLst>
              <a:gd name="adj" fmla="val 50000"/>
            </a:avLst>
          </a:prstGeom>
          <a:solidFill>
            <a:srgbClr val="0F0F14"/>
          </a:solidFill>
          <a:ln w="12700">
            <a:solidFill>
              <a:srgbClr val="25F4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5943600"/>
            <a:ext cx="2965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3" invalidUrl="" action="" tgtFrame="" tooltip="https://www.tiktok.com/discover/chiki-sha-trend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Xem trend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37304" y="1600200"/>
            <a:ext cx="3514344" cy="4800600"/>
          </a:xfrm>
          <a:prstGeom prst="roundRect">
            <a:avLst>
              <a:gd name="adj" fmla="val 3643"/>
            </a:avLst>
          </a:prstGeom>
          <a:solidFill>
            <a:srgbClr val="1C1C26"/>
          </a:solidFill>
          <a:ln w="9525">
            <a:solidFill>
              <a:srgbClr val="2E2E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11624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4611624" y="2377440"/>
            <a:ext cx="2965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"What's My Name" – nhảy đôi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611624" y="3108960"/>
            <a:ext cx="2965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3A3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Nhảy 2 người, động tác dễ; phổ biến dạng duet (1 người nhảy, chừa chỗ người kia vào)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11624" y="4206240"/>
            <a:ext cx="2965704" cy="0"/>
          </a:xfrm>
          <a:prstGeom prst="line">
            <a:avLst/>
          </a:prstGeom>
          <a:noFill/>
          <a:ln w="12700">
            <a:solidFill>
              <a:srgbClr val="2E2E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11624" y="4315968"/>
            <a:ext cx="2965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DÙNG CHO APP</a:t>
            </a:r>
            <a:endParaRPr lang="en-US" sz="950" dirty="0"/>
          </a:p>
          <a:p>
            <a:pPr indent="0" marL="0">
              <a:buNone/>
            </a:pPr>
            <a:r>
              <a:rPr lang="en-US" sz="1150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Couple app, AI Dance, Health (nhảy xong đo nhịp tim)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11624" y="5559552"/>
            <a:ext cx="2965704" cy="310896"/>
          </a:xfrm>
          <a:prstGeom prst="roundRect">
            <a:avLst>
              <a:gd name="adj" fmla="val 50000"/>
            </a:avLst>
          </a:prstGeom>
          <a:solidFill>
            <a:srgbClr val="25F4EE"/>
          </a:solidFill>
          <a:ln w="12700">
            <a:solidFill>
              <a:srgbClr val="25F4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11624" y="5559552"/>
            <a:ext cx="2965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F0F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4" invalidUrl="" action="" tgtFrame="" tooltip="https://www.tiktok.com/@joelle.peschl/video/7618679216485207329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Video mẫu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11624" y="5943600"/>
            <a:ext cx="2965704" cy="310896"/>
          </a:xfrm>
          <a:prstGeom prst="roundRect">
            <a:avLst>
              <a:gd name="adj" fmla="val 50000"/>
            </a:avLst>
          </a:prstGeom>
          <a:solidFill>
            <a:srgbClr val="0F0F14"/>
          </a:solidFill>
          <a:ln w="12700">
            <a:solidFill>
              <a:srgbClr val="25F4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611624" y="5943600"/>
            <a:ext cx="2965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5" invalidUrl="" action="" tgtFrame="" tooltip="https://www.tiktok.com/discover/two-person-danc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Nhảy đôi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125968" y="1600200"/>
            <a:ext cx="3514344" cy="4800600"/>
          </a:xfrm>
          <a:prstGeom prst="roundRect">
            <a:avLst>
              <a:gd name="adj" fmla="val 3643"/>
            </a:avLst>
          </a:prstGeom>
          <a:solidFill>
            <a:srgbClr val="1C1C26"/>
          </a:solidFill>
          <a:ln w="9525">
            <a:solidFill>
              <a:srgbClr val="2E2E3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400288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8400288" y="2377440"/>
            <a:ext cx="2965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Trending sound tháng 9 (7 giây)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400288" y="3108960"/>
            <a:ext cx="2965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3A3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Video 5–7 giây ghép sound đang lên, dùng cho before / after, GRWM, transition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400288" y="4206240"/>
            <a:ext cx="2965704" cy="0"/>
          </a:xfrm>
          <a:prstGeom prst="line">
            <a:avLst/>
          </a:prstGeom>
          <a:noFill/>
          <a:ln w="12700">
            <a:solidFill>
              <a:srgbClr val="2E2E3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400288" y="4315968"/>
            <a:ext cx="2965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DÙNG CHO APP</a:t>
            </a:r>
            <a:endParaRPr lang="en-US" sz="950" dirty="0"/>
          </a:p>
          <a:p>
            <a:pPr indent="0" marL="0">
              <a:buNone/>
            </a:pPr>
            <a:r>
              <a:rPr lang="en-US" sz="1150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Mọi app — hook 3s đầu, đặc biệt before / after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400288" y="5559552"/>
            <a:ext cx="2965704" cy="310896"/>
          </a:xfrm>
          <a:prstGeom prst="roundRect">
            <a:avLst>
              <a:gd name="adj" fmla="val 50000"/>
            </a:avLst>
          </a:prstGeom>
          <a:solidFill>
            <a:srgbClr val="25F4EE"/>
          </a:solidFill>
          <a:ln w="12700">
            <a:solidFill>
              <a:srgbClr val="25F4E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400288" y="5559552"/>
            <a:ext cx="2965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F0F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6" invalidUrl="" action="" tgtFrame="" tooltip="https://www.tiktok.com/@madisonknowsbest/video/7679985572701637919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Video tổng hợp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400288" y="5943600"/>
            <a:ext cx="2965704" cy="310896"/>
          </a:xfrm>
          <a:prstGeom prst="roundRect">
            <a:avLst>
              <a:gd name="adj" fmla="val 50000"/>
            </a:avLst>
          </a:prstGeom>
          <a:solidFill>
            <a:srgbClr val="0F0F14"/>
          </a:solidFill>
          <a:ln w="12700">
            <a:solidFill>
              <a:srgbClr val="25F4E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00288" y="5943600"/>
            <a:ext cx="2965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7" invalidUrl="" action="" tgtFrame="" tooltip="https://www.tiktok.com/discover/trending-sounds-september-2026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Sound T9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 APP · HEALTH &amp; FITNESS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16636" y="6355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Health Tracker: BP &amp; Blood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80644" y="6812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E2C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Health Tracker: BP &amp; Blood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Health Tracker: BP &amp; Blood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503920" y="365760"/>
            <a:ext cx="3154680" cy="292608"/>
          </a:xfrm>
          <a:prstGeom prst="roundRect">
            <a:avLst>
              <a:gd name="adj" fmla="val 50000"/>
            </a:avLst>
          </a:prstGeom>
          <a:solidFill>
            <a:srgbClr val="0F0F14"/>
          </a:solidFill>
          <a:ln w="15875">
            <a:solidFill>
              <a:srgbClr val="25F4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03920" y="36576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CHƯA CÓ TRONG FILE TỔNG HỢP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2606040" cy="896112"/>
          </a:xfrm>
          <a:prstGeom prst="roundRect">
            <a:avLst>
              <a:gd name="adj" fmla="val 14286"/>
            </a:avLst>
          </a:prstGeom>
          <a:solidFill>
            <a:srgbClr val="1C1C26"/>
          </a:solidFill>
          <a:ln w="9525">
            <a:solidFill>
              <a:srgbClr val="2E2E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6733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725K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130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installs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624328"/>
            <a:ext cx="2606040" cy="896112"/>
          </a:xfrm>
          <a:prstGeom prst="roundRect">
            <a:avLst>
              <a:gd name="adj" fmla="val 14286"/>
            </a:avLst>
          </a:prstGeom>
          <a:solidFill>
            <a:srgbClr val="1C1C26"/>
          </a:solidFill>
          <a:ln w="9525">
            <a:solidFill>
              <a:srgbClr val="2E2E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697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E2C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8K / ngày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Daily installs · 500K / tháng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648456"/>
            <a:ext cx="2606040" cy="896112"/>
          </a:xfrm>
          <a:prstGeom prst="roundRect">
            <a:avLst>
              <a:gd name="adj" fmla="val 14286"/>
            </a:avLst>
          </a:prstGeom>
          <a:solidFill>
            <a:srgbClr val="1C1C26"/>
          </a:solidFill>
          <a:ln w="9525">
            <a:solidFill>
              <a:srgbClr val="2E2E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7216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4.3★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178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Rating · 1K votes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672584"/>
            <a:ext cx="2606040" cy="896112"/>
          </a:xfrm>
          <a:prstGeom prst="roundRect">
            <a:avLst>
              <a:gd name="adj" fmla="val 14286"/>
            </a:avLst>
          </a:prstGeom>
          <a:solidFill>
            <a:srgbClr val="1C1C26"/>
          </a:solidFill>
          <a:ln w="9525">
            <a:solidFill>
              <a:srgbClr val="2E2E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474573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E2C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18/06/2026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2029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 mắt (3 tháng) · v1.0.16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29000" y="1600200"/>
            <a:ext cx="8229600" cy="402336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0" descr="/tmp/claude-0/-home-user-Aiquyen-github-io/04815c5d-b8ea-5176-a2d9-19e6c7f56abf/scratchpad/v2/6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566160" y="1691640"/>
            <a:ext cx="7955280" cy="384048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3429000" y="5760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TÍNH NĂNG CHÍNH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3429000" y="60167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Đo nhịp tim bằng camera + flash   ·   Log huyết áp / đường huyết (nhập tay)   ·   Bước chân &amp; lượng nước   ·   Lịch sử chỉ số   ·   Tự ghi: không phải thiết bị y tế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57150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USER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Người trung niên – cao tuổi theo dõi huyết áp / đường huyết; con cái chăm bố mẹ.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THỊ TRƯỜNG · HEALTH &amp; FITNESS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16636" y="6355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Ngách "AI health" – Google Play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80644" y="6812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E2C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Ngách "AI health" – Google Play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Ngách "AI health" – Google Play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7315200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/tmp/claude-0/-home-user-Aiquyen-github-io/04815c5d-b8ea-5176-a2d9-19e6c7f56abf/scratchpad/v2/9c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" y="1691640"/>
            <a:ext cx="7132320" cy="35204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5486400"/>
            <a:ext cx="1737360" cy="960120"/>
          </a:xfrm>
          <a:prstGeom prst="roundRect">
            <a:avLst>
              <a:gd name="adj" fmla="val 13333"/>
            </a:avLst>
          </a:prstGeom>
          <a:solidFill>
            <a:srgbClr val="1C1C26"/>
          </a:solidFill>
          <a:ln w="9525">
            <a:solidFill>
              <a:srgbClr val="2E2E3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55595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190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60350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3A3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đang live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423160" y="5486400"/>
            <a:ext cx="1737360" cy="960120"/>
          </a:xfrm>
          <a:prstGeom prst="roundRect">
            <a:avLst>
              <a:gd name="adj" fmla="val 13333"/>
            </a:avLst>
          </a:prstGeom>
          <a:solidFill>
            <a:srgbClr val="1C1C26"/>
          </a:solidFill>
          <a:ln w="9525">
            <a:solidFill>
              <a:srgbClr val="2E2E3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560320" y="55595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E2C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76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2560320" y="60350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3A3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bị gỡ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297680" y="5486400"/>
            <a:ext cx="1737360" cy="960120"/>
          </a:xfrm>
          <a:prstGeom prst="roundRect">
            <a:avLst>
              <a:gd name="adj" fmla="val 13333"/>
            </a:avLst>
          </a:prstGeom>
          <a:solidFill>
            <a:srgbClr val="1C1C26"/>
          </a:solidFill>
          <a:ln w="9525">
            <a:solidFill>
              <a:srgbClr val="2E2E3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34840" y="55595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32K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4434840" y="60350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3A3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Install / ngày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172200" y="5486400"/>
            <a:ext cx="1737360" cy="960120"/>
          </a:xfrm>
          <a:prstGeom prst="roundRect">
            <a:avLst>
              <a:gd name="adj" fmla="val 13333"/>
            </a:avLst>
          </a:prstGeom>
          <a:solidFill>
            <a:srgbClr val="1C1C26"/>
          </a:solidFill>
          <a:ln w="9525">
            <a:solidFill>
              <a:srgbClr val="2E2E3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09360" y="55595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E2C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$60K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309360" y="60350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3A3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Doanh thu / tháng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138160" y="1600200"/>
            <a:ext cx="3520440" cy="1417320"/>
          </a:xfrm>
          <a:prstGeom prst="roundRect">
            <a:avLst>
              <a:gd name="adj" fmla="val 9032"/>
            </a:avLst>
          </a:prstGeom>
          <a:solidFill>
            <a:srgbClr val="1C1C26"/>
          </a:solidFill>
          <a:ln w="9525">
            <a:solidFill>
              <a:srgbClr val="2E2E3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21040" y="169164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MONETIZATION</a:t>
            </a:r>
            <a:endParaRPr lang="en-US" sz="950" dirty="0"/>
          </a:p>
          <a:p>
            <a:pPr indent="0" marL="0">
              <a:buNone/>
            </a:pPr>
            <a:r>
              <a:rPr lang="en-US" sz="2000" b="1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IAP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 NETWORK (ĐỀ XUẤT)</a:t>
            </a:r>
            <a:endParaRPr lang="en-US" sz="950" dirty="0"/>
          </a:p>
          <a:p>
            <a:pPr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 · Google UAC · TikTok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8138160" y="3154680"/>
            <a:ext cx="3520440" cy="3291840"/>
          </a:xfrm>
          <a:prstGeom prst="roundRect">
            <a:avLst>
              <a:gd name="adj" fmla="val 3889"/>
            </a:avLst>
          </a:prstGeom>
          <a:solidFill>
            <a:srgbClr val="1C1C26"/>
          </a:solidFill>
          <a:ln w="9525">
            <a:solidFill>
              <a:srgbClr val="2E2E3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321040" y="3291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INSIGHT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8321040" y="3584448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Dẫn đầu ngách: 8K/ngày ≈ 25% tổng install ngách.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500K install/tháng chỉ sau 3 tháng → đang đẩy UA mạnh.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đỉnh ~27K và ~25K install/ngày (cuối T8, 13/9) → chạy UA theo đợt.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Rủi ro policy: không claim đo huyết áp / đường huyết bằng điện thoại.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File đã có 2 app cùng ngách BP (dòng 49, 277).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CREATIVE · HEALTH &amp; FITNESS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16636" y="6355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concept theo trend mới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80644" y="6812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E2C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concept theo trend mới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concept theo trend mới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3A3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Lồng trend tháng 9 · tránh claim y khoa — chỉ nói "ghi lại / theo dõi", không nói "đo huyết áp"</a:t>
            </a:r>
            <a:endParaRPr lang="en-US" sz="1050" dirty="0"/>
          </a:p>
        </p:txBody>
      </p:sp>
      <p:pic>
        <p:nvPicPr>
          <p:cNvPr id="7" name="Image 0" descr="/tmp/claude-0/-home-user-Aiquyen-github-io/04815c5d-b8ea-5176-a2d9-19e6c7f56abf/scratchpad/v2/ph_h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572768"/>
            <a:ext cx="2148840" cy="35538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009533" y="2088525"/>
            <a:ext cx="1483086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46109" y="2106813"/>
            <a:ext cx="140993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#SeptemberChallenge – ngày 24/30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99805" y="4401957"/>
            <a:ext cx="17025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Nước ✓  Ngủ 8h ✓  10K bước ✓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676656" y="5144907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30-day challenge recap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630936" y="5455803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#SeptemberChallenge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3A3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Mỗi ngày 1 ô sáng lên trong app — recap 7 giây</a:t>
            </a:r>
            <a:endParaRPr lang="en-US" sz="950" dirty="0"/>
          </a:p>
        </p:txBody>
      </p:sp>
      <p:pic>
        <p:nvPicPr>
          <p:cNvPr id="13" name="Image 1" descr="/tmp/claude-0/-home-user-Aiquyen-github-io/04815c5d-b8ea-5176-a2d9-19e6c7f56abf/scratchpad/v2/ph_h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5304" y="1572768"/>
            <a:ext cx="2148840" cy="3553851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908181" y="2088525"/>
            <a:ext cx="1483086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944757" y="2106813"/>
            <a:ext cx="140993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10K bước mỗi ngày trong 1 tháng — kết quả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3798453" y="4557405"/>
            <a:ext cx="8512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Tuần 1</a:t>
            </a:r>
            <a:endParaRPr lang="en-US" sz="950" dirty="0"/>
          </a:p>
        </p:txBody>
      </p:sp>
      <p:sp>
        <p:nvSpPr>
          <p:cNvPr id="17" name="Text 13"/>
          <p:cNvSpPr txBox="1"/>
          <p:nvPr/>
        </p:nvSpPr>
        <p:spPr>
          <a:xfrm>
            <a:off x="4649724" y="4557405"/>
            <a:ext cx="8512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E2C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Tuần 4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3575304" y="5144907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Before / After 1 tháng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3529584" y="5455803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10K bước + chỉ uống nước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3A3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 biểu đồ tuần 1 vs tuần 4 ngay trong app</a:t>
            </a:r>
            <a:endParaRPr lang="en-US" sz="950" dirty="0"/>
          </a:p>
        </p:txBody>
      </p:sp>
      <p:pic>
        <p:nvPicPr>
          <p:cNvPr id="20" name="Image 2" descr="/tmp/claude-0/-home-user-Aiquyen-github-io/04815c5d-b8ea-5176-a2d9-19e6c7f56abf/scratchpad/v2/ph_h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1572768"/>
            <a:ext cx="2148840" cy="3553851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806829" y="2088525"/>
            <a:ext cx="1483086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43405" y="2106813"/>
            <a:ext cx="140993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Nhảy "What's My Name" cùng mẹ xong đo nhịp tim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6697101" y="4447677"/>
            <a:ext cx="17025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Mẹ 96 · Con 104 BPM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6473952" y="5144907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Duo dance × heart rate</a:t>
            </a:r>
            <a:endParaRPr lang="en-US" sz="1250" dirty="0"/>
          </a:p>
        </p:txBody>
      </p:sp>
      <p:sp>
        <p:nvSpPr>
          <p:cNvPr id="25" name="Text 20"/>
          <p:cNvSpPr txBox="1"/>
          <p:nvPr/>
        </p:nvSpPr>
        <p:spPr>
          <a:xfrm>
            <a:off x="6428232" y="5455803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What's My Name – nhảy đôi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3A3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Nhảy đôi 5 giây → đặt ngón tay lên camera</a:t>
            </a:r>
            <a:endParaRPr lang="en-US" sz="950" dirty="0"/>
          </a:p>
        </p:txBody>
      </p:sp>
      <p:pic>
        <p:nvPicPr>
          <p:cNvPr id="26" name="Image 3" descr="/tmp/claude-0/-home-user-Aiquyen-github-io/04815c5d-b8ea-5176-a2d9-19e6c7f56abf/scratchpad/v2/ph_h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0" y="1572768"/>
            <a:ext cx="2148840" cy="3553851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9705477" y="2088525"/>
            <a:ext cx="1483086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9742053" y="2106813"/>
            <a:ext cx="140993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Quên uống nước là bị véo má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9595749" y="4539117"/>
            <a:ext cx="17025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024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Nhắc uống nước · 14:00</a:t>
            </a:r>
            <a:endParaRPr lang="en-US" sz="1050" dirty="0"/>
          </a:p>
        </p:txBody>
      </p:sp>
      <p:sp>
        <p:nvSpPr>
          <p:cNvPr id="30" name="Text 24"/>
          <p:cNvSpPr txBox="1"/>
          <p:nvPr/>
        </p:nvSpPr>
        <p:spPr>
          <a:xfrm>
            <a:off x="9372600" y="5144907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Pinch reminder</a:t>
            </a:r>
            <a:endParaRPr lang="en-US" sz="1250" dirty="0"/>
          </a:p>
        </p:txBody>
      </p:sp>
      <p:sp>
        <p:nvSpPr>
          <p:cNvPr id="31" name="Text 25"/>
          <p:cNvSpPr txBox="1"/>
          <p:nvPr/>
        </p:nvSpPr>
        <p:spPr>
          <a:xfrm>
            <a:off x="9326880" y="5455803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Cheek pinch filter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3A3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Filter véo má → cắt sang nhắc nhở trong app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E2C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 APP · PARENTING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16636" y="6355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Pregnancy Tracker: Baby Growth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80644" y="6812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E2C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Pregnancy Tracker: Baby Growth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Pregnancy Tracker: Baby Growth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503920" y="365760"/>
            <a:ext cx="3154680" cy="292608"/>
          </a:xfrm>
          <a:prstGeom prst="roundRect">
            <a:avLst>
              <a:gd name="adj" fmla="val 50000"/>
            </a:avLst>
          </a:prstGeom>
          <a:solidFill>
            <a:srgbClr val="0F0F14"/>
          </a:solidFill>
          <a:ln w="15875">
            <a:solidFill>
              <a:srgbClr val="FE2C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03920" y="36576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E2C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CHƯA CÓ BẢN INSUMOS XP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2606040" cy="896112"/>
          </a:xfrm>
          <a:prstGeom prst="roundRect">
            <a:avLst>
              <a:gd name="adj" fmla="val 14286"/>
            </a:avLst>
          </a:prstGeom>
          <a:solidFill>
            <a:srgbClr val="1C1C26"/>
          </a:solidFill>
          <a:ln w="9525">
            <a:solidFill>
              <a:srgbClr val="2E2E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6733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3M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130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installs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624328"/>
            <a:ext cx="2606040" cy="896112"/>
          </a:xfrm>
          <a:prstGeom prst="roundRect">
            <a:avLst>
              <a:gd name="adj" fmla="val 14286"/>
            </a:avLst>
          </a:prstGeom>
          <a:solidFill>
            <a:srgbClr val="1C1C26"/>
          </a:solidFill>
          <a:ln w="9525">
            <a:solidFill>
              <a:srgbClr val="2E2E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697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E2C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16K / ngày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154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Daily installs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648456"/>
            <a:ext cx="2606040" cy="896112"/>
          </a:xfrm>
          <a:prstGeom prst="roundRect">
            <a:avLst>
              <a:gd name="adj" fmla="val 14286"/>
            </a:avLst>
          </a:prstGeom>
          <a:solidFill>
            <a:srgbClr val="1C1C26"/>
          </a:solidFill>
          <a:ln w="9525">
            <a:solidFill>
              <a:srgbClr val="2E2E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7216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IAA + IAP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178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Có ads · có in-app purchase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672584"/>
            <a:ext cx="2606040" cy="896112"/>
          </a:xfrm>
          <a:prstGeom prst="roundRect">
            <a:avLst>
              <a:gd name="adj" fmla="val 14286"/>
            </a:avLst>
          </a:prstGeom>
          <a:solidFill>
            <a:srgbClr val="1C1C26"/>
          </a:solidFill>
          <a:ln w="9525">
            <a:solidFill>
              <a:srgbClr val="2E2E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474573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E2C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13/02/2026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2029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 mắt (7 tháng) · Early access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29000" y="1600200"/>
            <a:ext cx="8229600" cy="402336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0" descr="/tmp/claude-0/-home-user-Aiquyen-github-io/04815c5d-b8ea-5176-a2d9-19e6c7f56abf/scratchpad/v2/8c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566160" y="1691640"/>
            <a:ext cx="7955280" cy="384048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3429000" y="5760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E2C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TÍNH NĂNG CHÍNH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3429000" y="60167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Theo dõi thai kỳ theo tuần   ·   Kick counter   ·   Ảnh thai nhi 2D / 3D   ·   Checklist đồ sơ sinh   ·   Gợi ý tên cho bé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57150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E2C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USER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Mẹ bầu (nhất là lần đầu) theo dõi bé từng tuần; bố &amp; người thân.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E2C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THỊ TRƯỜNG · PARENTING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16636" y="6355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Ngách "Pregnancy Tracker" – Google Play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80644" y="6812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E2C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Ngách "Pregnancy Tracker" – Google Play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Ngách "Pregnancy Tracker" – Google Play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7315200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/tmp/claude-0/-home-user-Aiquyen-github-io/04815c5d-b8ea-5176-a2d9-19e6c7f56abf/scratchpad/v2/7c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" y="1691640"/>
            <a:ext cx="7132320" cy="35204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5486400"/>
            <a:ext cx="1737360" cy="960120"/>
          </a:xfrm>
          <a:prstGeom prst="roundRect">
            <a:avLst>
              <a:gd name="adj" fmla="val 13333"/>
            </a:avLst>
          </a:prstGeom>
          <a:solidFill>
            <a:srgbClr val="1C1C26"/>
          </a:solidFill>
          <a:ln w="9525">
            <a:solidFill>
              <a:srgbClr val="2E2E3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55595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206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60350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3A3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đang live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423160" y="5486400"/>
            <a:ext cx="1737360" cy="960120"/>
          </a:xfrm>
          <a:prstGeom prst="roundRect">
            <a:avLst>
              <a:gd name="adj" fmla="val 13333"/>
            </a:avLst>
          </a:prstGeom>
          <a:solidFill>
            <a:srgbClr val="1C1C26"/>
          </a:solidFill>
          <a:ln w="9525">
            <a:solidFill>
              <a:srgbClr val="2E2E3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560320" y="55595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E2C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237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2560320" y="60350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3A3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bị gỡ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297680" y="5486400"/>
            <a:ext cx="1737360" cy="960120"/>
          </a:xfrm>
          <a:prstGeom prst="roundRect">
            <a:avLst>
              <a:gd name="adj" fmla="val 13333"/>
            </a:avLst>
          </a:prstGeom>
          <a:solidFill>
            <a:srgbClr val="1C1C26"/>
          </a:solidFill>
          <a:ln w="9525">
            <a:solidFill>
              <a:srgbClr val="2E2E3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34840" y="55595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213K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4434840" y="60350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3A3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Install / ngày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172200" y="5486400"/>
            <a:ext cx="1737360" cy="960120"/>
          </a:xfrm>
          <a:prstGeom prst="roundRect">
            <a:avLst>
              <a:gd name="adj" fmla="val 13333"/>
            </a:avLst>
          </a:prstGeom>
          <a:solidFill>
            <a:srgbClr val="1C1C26"/>
          </a:solidFill>
          <a:ln w="9525">
            <a:solidFill>
              <a:srgbClr val="2E2E3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09360" y="55595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E2C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$40K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309360" y="60350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3A3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Doanh thu / tháng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138160" y="1600200"/>
            <a:ext cx="3520440" cy="1417320"/>
          </a:xfrm>
          <a:prstGeom prst="roundRect">
            <a:avLst>
              <a:gd name="adj" fmla="val 9032"/>
            </a:avLst>
          </a:prstGeom>
          <a:solidFill>
            <a:srgbClr val="1C1C26"/>
          </a:solidFill>
          <a:ln w="9525">
            <a:solidFill>
              <a:srgbClr val="2E2E3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21040" y="169164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E2C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MONETIZATION</a:t>
            </a:r>
            <a:endParaRPr lang="en-US" sz="950" dirty="0"/>
          </a:p>
          <a:p>
            <a:pPr indent="0" marL="0">
              <a:buNone/>
            </a:pPr>
            <a:r>
              <a:rPr lang="en-US" sz="2000" b="1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IAA + IAP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E2C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 NETWORK (ĐỀ XUẤT)</a:t>
            </a:r>
            <a:endParaRPr lang="en-US" sz="950" dirty="0"/>
          </a:p>
          <a:p>
            <a:pPr indent="0" marL="0">
              <a:buNone/>
            </a:pPr>
            <a:r>
              <a:rPr lang="en-US" sz="1400" b="1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 · Google UAC · TikTok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8138160" y="3154680"/>
            <a:ext cx="3520440" cy="3291840"/>
          </a:xfrm>
          <a:prstGeom prst="roundRect">
            <a:avLst>
              <a:gd name="adj" fmla="val 3889"/>
            </a:avLst>
          </a:prstGeom>
          <a:solidFill>
            <a:srgbClr val="1C1C26"/>
          </a:solidFill>
          <a:ln w="9525">
            <a:solidFill>
              <a:srgbClr val="2E2E3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321040" y="3291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E2C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INSIGHT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8321040" y="3584448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4M install/tháng nhưng doanh thu chỉ ~$40K → ngách kiếm tiền bằng ads.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Nhiều app ra 2026 đạt 11–16K/ngày → dễ clone, cạnh tranh cao.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Insumos XP tăng từ ~5K (06/09) lên ~16K/ngày (22/09) → đang scale.</a:t>
            </a:r>
            <a:endParaRPr lang="en-US" sz="10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File đã có bản cùng tên của Tools for Everyday (dòng 281) — nên so sánh.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E2C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CREATIVE · PARENTING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16636" y="6355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concept theo trend mới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80644" y="6812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E2C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concept theo trend mới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concept theo trend mới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984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3A3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Lồng trend tháng 9 cho mẹ bầu · tránh claim y khoa (chẩn đoán, thay bác sĩ)</a:t>
            </a:r>
            <a:endParaRPr lang="en-US" sz="1050" dirty="0"/>
          </a:p>
        </p:txBody>
      </p:sp>
      <p:pic>
        <p:nvPicPr>
          <p:cNvPr id="7" name="Image 0" descr="/tmp/claude-0/-home-user-Aiquyen-github-io/04815c5d-b8ea-5176-a2d9-19e6c7f56abf/scratchpad/v2/ph_p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572768"/>
            <a:ext cx="2148840" cy="35538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009533" y="2088525"/>
            <a:ext cx="1483086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46109" y="2106813"/>
            <a:ext cx="140993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Addams Family bump: tuần 30 → 40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99805" y="4539117"/>
            <a:ext cx="17025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Tuần 36 · bé ≈ 2,6 kg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76656" y="5144907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Snap-to-week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630936" y="5455803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E2C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Addams Family bump transition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3A3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Mỗi cú búng tay nhảy 1 tuần, kèm thẻ tuần của app</a:t>
            </a:r>
            <a:endParaRPr lang="en-US" sz="950" dirty="0"/>
          </a:p>
        </p:txBody>
      </p:sp>
      <p:pic>
        <p:nvPicPr>
          <p:cNvPr id="13" name="Image 1" descr="/tmp/claude-0/-home-user-Aiquyen-github-io/04815c5d-b8ea-5176-a2d9-19e6c7f56abf/scratchpad/v2/ph_p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5304" y="1572768"/>
            <a:ext cx="2148840" cy="3553851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908181" y="2088525"/>
            <a:ext cx="1483086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944757" y="2106813"/>
            <a:ext cx="140993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Sticker từng tuần của bump nhà mình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3798453" y="4584837"/>
            <a:ext cx="17025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024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Tuần 12 · quả chanh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3575304" y="5144907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Bump timeline</a:t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3529584" y="5455803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E2C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Bump sticker timeline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3A3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Sticker tuần lấy từ app, ghép timeline 7 giây</a:t>
            </a:r>
            <a:endParaRPr lang="en-US" sz="950" dirty="0"/>
          </a:p>
        </p:txBody>
      </p:sp>
      <p:pic>
        <p:nvPicPr>
          <p:cNvPr id="19" name="Image 2" descr="/tmp/claude-0/-home-user-Aiquyen-github-io/04815c5d-b8ea-5176-a2d9-19e6c7f56abf/scratchpad/v2/ph_p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1572768"/>
            <a:ext cx="2148840" cy="3553851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806829" y="2088525"/>
            <a:ext cx="1483086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843405" y="2106813"/>
            <a:ext cx="140993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Filter đoán mặt con xong… mở app xem bé tuần này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6697101" y="4584837"/>
            <a:ext cx="17025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949A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Tuần 24 · 30 cm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6473952" y="5144907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child → thực tế</a:t>
            </a:r>
            <a:endParaRPr lang="en-US" sz="1250" dirty="0"/>
          </a:p>
        </p:txBody>
      </p:sp>
      <p:sp>
        <p:nvSpPr>
          <p:cNvPr id="24" name="Text 19"/>
          <p:cNvSpPr txBox="1"/>
          <p:nvPr/>
        </p:nvSpPr>
        <p:spPr>
          <a:xfrm>
            <a:off x="6428232" y="5455803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E2C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child filter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3A3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Reaction cặp đôi → chuyển sang màn hình tuần thai</a:t>
            </a:r>
            <a:endParaRPr lang="en-US" sz="950" dirty="0"/>
          </a:p>
        </p:txBody>
      </p:sp>
      <p:pic>
        <p:nvPicPr>
          <p:cNvPr id="25" name="Image 3" descr="/tmp/claude-0/-home-user-Aiquyen-github-io/04815c5d-b8ea-5176-a2d9-19e6c7f56abf/scratchpad/v2/ph_p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0" y="1572768"/>
            <a:ext cx="2148840" cy="3553851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9705477" y="2088525"/>
            <a:ext cx="1483086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9742053" y="2106813"/>
            <a:ext cx="140993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Bé đang nhảy Chiki Sha trong bụng?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9595749" y="4539117"/>
            <a:ext cx="17025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Kick counter: 8 lần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9372600" y="5144907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Baby dance × kick</a:t>
            </a:r>
            <a:endParaRPr lang="en-US" sz="1250" dirty="0"/>
          </a:p>
        </p:txBody>
      </p:sp>
      <p:sp>
        <p:nvSpPr>
          <p:cNvPr id="30" name="Text 24"/>
          <p:cNvSpPr txBox="1"/>
          <p:nvPr/>
        </p:nvSpPr>
        <p:spPr>
          <a:xfrm>
            <a:off x="9326880" y="5455803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E2C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Baby Dance + Chiki Sha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3A3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Bé đạp theo nhạc → mẹ bấm đếm trong app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339596" y="2354580"/>
            <a:ext cx="94457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5F4E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1403604" y="2400300"/>
            <a:ext cx="94457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E2C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2377440"/>
            <a:ext cx="94457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5F5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2743200" y="3931920"/>
            <a:ext cx="6702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3A3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Link trend bấm được trên từng thẻ ▶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App × New Trend – 24/09/2026</dc:title>
  <dc:subject>PptxGenJS Presentation</dc:subject>
  <dc:creator>PptxGenJS</dc:creator>
  <cp:lastModifiedBy>PptxGenJS</cp:lastModifiedBy>
  <cp:revision>1</cp:revision>
  <dcterms:created xsi:type="dcterms:W3CDTF">2026-09-24T13:42:45Z</dcterms:created>
  <dcterms:modified xsi:type="dcterms:W3CDTF">2026-09-24T13:42:45Z</dcterms:modified>
</cp:coreProperties>
</file>